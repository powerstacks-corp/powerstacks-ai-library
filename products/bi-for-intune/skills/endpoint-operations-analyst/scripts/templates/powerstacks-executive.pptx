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rt_line"/>
          <p:cNvCxnSpPr/>
          <p:nvPr/>
        </p:nvCxnSpPr>
        <p:spPr>
          <a:xfrm>
            <a:off x="8416721" y="5746640"/>
            <a:ext cx="388429" cy="53677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art_line"/>
          <p:cNvCxnSpPr/>
          <p:nvPr/>
        </p:nvCxnSpPr>
        <p:spPr>
          <a:xfrm flipV="1">
            <a:off x="8416721" y="5055937"/>
            <a:ext cx="1279798" cy="69070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rt_line"/>
          <p:cNvCxnSpPr/>
          <p:nvPr/>
        </p:nvCxnSpPr>
        <p:spPr>
          <a:xfrm flipH="1" flipV="1">
            <a:off x="10506752" y="2117236"/>
            <a:ext cx="499867" cy="37945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rt_line"/>
          <p:cNvCxnSpPr/>
          <p:nvPr/>
        </p:nvCxnSpPr>
        <p:spPr>
          <a:xfrm>
            <a:off x="11006619" y="2496690"/>
            <a:ext cx="721631" cy="69202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art_line"/>
          <p:cNvCxnSpPr/>
          <p:nvPr/>
        </p:nvCxnSpPr>
        <p:spPr>
          <a:xfrm flipH="1">
            <a:off x="9665659" y="3563367"/>
            <a:ext cx="236797" cy="25413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t_line"/>
          <p:cNvCxnSpPr/>
          <p:nvPr/>
        </p:nvCxnSpPr>
        <p:spPr>
          <a:xfrm flipH="1">
            <a:off x="9112140" y="3563367"/>
            <a:ext cx="790316" cy="75761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t_line"/>
          <p:cNvCxnSpPr/>
          <p:nvPr/>
        </p:nvCxnSpPr>
        <p:spPr>
          <a:xfrm flipV="1">
            <a:off x="10545014" y="4999162"/>
            <a:ext cx="287590" cy="42536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t_line"/>
          <p:cNvCxnSpPr/>
          <p:nvPr/>
        </p:nvCxnSpPr>
        <p:spPr>
          <a:xfrm flipH="1" flipV="1">
            <a:off x="9696519" y="5055937"/>
            <a:ext cx="848495" cy="36859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t_line"/>
          <p:cNvCxnSpPr/>
          <p:nvPr/>
        </p:nvCxnSpPr>
        <p:spPr>
          <a:xfrm flipV="1">
            <a:off x="8250053" y="1215181"/>
            <a:ext cx="806180" cy="3762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t_line"/>
          <p:cNvCxnSpPr/>
          <p:nvPr/>
        </p:nvCxnSpPr>
        <p:spPr>
          <a:xfrm flipH="1">
            <a:off x="7983337" y="1252805"/>
            <a:ext cx="266716" cy="106076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t_line"/>
          <p:cNvCxnSpPr/>
          <p:nvPr/>
        </p:nvCxnSpPr>
        <p:spPr>
          <a:xfrm flipV="1">
            <a:off x="11302846" y="3413127"/>
            <a:ext cx="414259" cy="5848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t_line"/>
          <p:cNvCxnSpPr/>
          <p:nvPr/>
        </p:nvCxnSpPr>
        <p:spPr>
          <a:xfrm flipV="1">
            <a:off x="11302846" y="3188718"/>
            <a:ext cx="425404" cy="28289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t_line"/>
          <p:cNvCxnSpPr/>
          <p:nvPr/>
        </p:nvCxnSpPr>
        <p:spPr>
          <a:xfrm>
            <a:off x="11000470" y="1108834"/>
            <a:ext cx="572563" cy="15627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t_line"/>
          <p:cNvCxnSpPr/>
          <p:nvPr/>
        </p:nvCxnSpPr>
        <p:spPr>
          <a:xfrm flipH="1">
            <a:off x="10506752" y="1108834"/>
            <a:ext cx="493718" cy="100840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t_line"/>
          <p:cNvCxnSpPr/>
          <p:nvPr/>
        </p:nvCxnSpPr>
        <p:spPr>
          <a:xfrm flipH="1" flipV="1">
            <a:off x="9112140" y="4320982"/>
            <a:ext cx="584379" cy="73495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t_line"/>
          <p:cNvCxnSpPr/>
          <p:nvPr/>
        </p:nvCxnSpPr>
        <p:spPr>
          <a:xfrm flipV="1">
            <a:off x="7968544" y="3618848"/>
            <a:ext cx="795536" cy="44883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t_line"/>
          <p:cNvCxnSpPr/>
          <p:nvPr/>
        </p:nvCxnSpPr>
        <p:spPr>
          <a:xfrm flipV="1">
            <a:off x="7968544" y="3413180"/>
            <a:ext cx="786559" cy="65450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t_line"/>
          <p:cNvCxnSpPr/>
          <p:nvPr/>
        </p:nvCxnSpPr>
        <p:spPr>
          <a:xfrm flipH="1">
            <a:off x="11717105" y="3188718"/>
            <a:ext cx="11145" cy="22440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t_line"/>
          <p:cNvCxnSpPr/>
          <p:nvPr/>
        </p:nvCxnSpPr>
        <p:spPr>
          <a:xfrm>
            <a:off x="8755103" y="3413180"/>
            <a:ext cx="8977" cy="20566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t_line"/>
          <p:cNvCxnSpPr/>
          <p:nvPr/>
        </p:nvCxnSpPr>
        <p:spPr>
          <a:xfrm flipH="1" flipV="1">
            <a:off x="8361278" y="2922578"/>
            <a:ext cx="393825" cy="49060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t_line"/>
          <p:cNvCxnSpPr/>
          <p:nvPr/>
        </p:nvCxnSpPr>
        <p:spPr>
          <a:xfrm>
            <a:off x="7983337" y="2313569"/>
            <a:ext cx="377941" cy="60900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t_line"/>
          <p:cNvCxnSpPr/>
          <p:nvPr/>
        </p:nvCxnSpPr>
        <p:spPr>
          <a:xfrm>
            <a:off x="7983337" y="2313569"/>
            <a:ext cx="839598" cy="5033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t_line"/>
          <p:cNvCxnSpPr/>
          <p:nvPr/>
        </p:nvCxnSpPr>
        <p:spPr>
          <a:xfrm flipH="1">
            <a:off x="9112140" y="3817504"/>
            <a:ext cx="553519" cy="50347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rt_line"/>
          <p:cNvCxnSpPr/>
          <p:nvPr/>
        </p:nvCxnSpPr>
        <p:spPr>
          <a:xfrm flipH="1">
            <a:off x="8361278" y="2363906"/>
            <a:ext cx="461657" cy="55867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rt_line"/>
          <p:cNvCxnSpPr/>
          <p:nvPr/>
        </p:nvCxnSpPr>
        <p:spPr>
          <a:xfrm>
            <a:off x="8764080" y="3618848"/>
            <a:ext cx="348060" cy="70213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rt_line"/>
          <p:cNvCxnSpPr/>
          <p:nvPr/>
        </p:nvCxnSpPr>
        <p:spPr>
          <a:xfrm flipH="1">
            <a:off x="11279270" y="4150210"/>
            <a:ext cx="31035" cy="62463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rt_line"/>
          <p:cNvCxnSpPr/>
          <p:nvPr/>
        </p:nvCxnSpPr>
        <p:spPr>
          <a:xfrm flipH="1" flipV="1">
            <a:off x="11279270" y="4774844"/>
            <a:ext cx="668687" cy="104044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rt_line"/>
          <p:cNvCxnSpPr/>
          <p:nvPr/>
        </p:nvCxnSpPr>
        <p:spPr>
          <a:xfrm flipH="1" flipV="1">
            <a:off x="10832604" y="4999162"/>
            <a:ext cx="1115353" cy="81612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rt_line"/>
          <p:cNvCxnSpPr/>
          <p:nvPr/>
        </p:nvCxnSpPr>
        <p:spPr>
          <a:xfrm flipV="1">
            <a:off x="10832604" y="4774844"/>
            <a:ext cx="446666" cy="22431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t_dot"/>
          <p:cNvSpPr/>
          <p:nvPr/>
        </p:nvSpPr>
        <p:spPr>
          <a:xfrm>
            <a:off x="8323660" y="5653578"/>
            <a:ext cx="186123" cy="18612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t_dot"/>
          <p:cNvSpPr/>
          <p:nvPr/>
        </p:nvSpPr>
        <p:spPr>
          <a:xfrm>
            <a:off x="10915880" y="2405951"/>
            <a:ext cx="181478" cy="18147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dot"/>
          <p:cNvSpPr/>
          <p:nvPr/>
        </p:nvSpPr>
        <p:spPr>
          <a:xfrm>
            <a:off x="9833538" y="3494449"/>
            <a:ext cx="137836" cy="13783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t_dot"/>
          <p:cNvSpPr/>
          <p:nvPr/>
        </p:nvSpPr>
        <p:spPr>
          <a:xfrm>
            <a:off x="10470737" y="5350254"/>
            <a:ext cx="148553" cy="14855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dot"/>
          <p:cNvSpPr/>
          <p:nvPr/>
        </p:nvSpPr>
        <p:spPr>
          <a:xfrm>
            <a:off x="8211267" y="1214019"/>
            <a:ext cx="77571" cy="7757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t_dot"/>
          <p:cNvSpPr/>
          <p:nvPr/>
        </p:nvSpPr>
        <p:spPr>
          <a:xfrm>
            <a:off x="11250732" y="3419499"/>
            <a:ext cx="104226" cy="10422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dot"/>
          <p:cNvSpPr/>
          <p:nvPr/>
        </p:nvSpPr>
        <p:spPr>
          <a:xfrm>
            <a:off x="10912853" y="1021218"/>
            <a:ext cx="175232" cy="17523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_dot"/>
          <p:cNvSpPr/>
          <p:nvPr/>
        </p:nvSpPr>
        <p:spPr>
          <a:xfrm>
            <a:off x="9633423" y="4992841"/>
            <a:ext cx="126190" cy="12619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dot"/>
          <p:cNvSpPr/>
          <p:nvPr/>
        </p:nvSpPr>
        <p:spPr>
          <a:xfrm>
            <a:off x="8757500" y="6235763"/>
            <a:ext cx="95299" cy="9529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t_dot"/>
          <p:cNvSpPr/>
          <p:nvPr/>
        </p:nvSpPr>
        <p:spPr>
          <a:xfrm>
            <a:off x="11501330" y="1193405"/>
            <a:ext cx="143407" cy="14340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dot"/>
          <p:cNvSpPr/>
          <p:nvPr/>
        </p:nvSpPr>
        <p:spPr>
          <a:xfrm>
            <a:off x="7886968" y="3986109"/>
            <a:ext cx="163152" cy="16315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rt_dot"/>
          <p:cNvSpPr/>
          <p:nvPr/>
        </p:nvSpPr>
        <p:spPr>
          <a:xfrm>
            <a:off x="11648502" y="3108970"/>
            <a:ext cx="159496" cy="15949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dot"/>
          <p:cNvSpPr/>
          <p:nvPr/>
        </p:nvSpPr>
        <p:spPr>
          <a:xfrm>
            <a:off x="8694543" y="3352620"/>
            <a:ext cx="121119" cy="12111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rt_dot"/>
          <p:cNvSpPr/>
          <p:nvPr/>
        </p:nvSpPr>
        <p:spPr>
          <a:xfrm>
            <a:off x="7918663" y="2248896"/>
            <a:ext cx="129346" cy="12934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t_dot"/>
          <p:cNvSpPr/>
          <p:nvPr/>
        </p:nvSpPr>
        <p:spPr>
          <a:xfrm>
            <a:off x="9596540" y="3748384"/>
            <a:ext cx="138238" cy="13823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t_dot"/>
          <p:cNvSpPr/>
          <p:nvPr/>
        </p:nvSpPr>
        <p:spPr>
          <a:xfrm>
            <a:off x="8736533" y="2277503"/>
            <a:ext cx="172805" cy="17280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t_dot"/>
          <p:cNvSpPr/>
          <p:nvPr/>
        </p:nvSpPr>
        <p:spPr>
          <a:xfrm>
            <a:off x="8694159" y="3548928"/>
            <a:ext cx="139840" cy="13984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t_dot"/>
          <p:cNvSpPr/>
          <p:nvPr/>
        </p:nvSpPr>
        <p:spPr>
          <a:xfrm>
            <a:off x="8994485" y="1153433"/>
            <a:ext cx="123494" cy="12349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t_dot"/>
          <p:cNvSpPr/>
          <p:nvPr/>
        </p:nvSpPr>
        <p:spPr>
          <a:xfrm>
            <a:off x="11242385" y="4082290"/>
            <a:ext cx="135840" cy="13584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rt_dot"/>
          <p:cNvSpPr/>
          <p:nvPr/>
        </p:nvSpPr>
        <p:spPr>
          <a:xfrm>
            <a:off x="10468283" y="2078767"/>
            <a:ext cx="76938" cy="7693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t_dot"/>
          <p:cNvSpPr/>
          <p:nvPr/>
        </p:nvSpPr>
        <p:spPr>
          <a:xfrm>
            <a:off x="11908598" y="5775931"/>
            <a:ext cx="78719" cy="7871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rt_dot"/>
          <p:cNvSpPr/>
          <p:nvPr/>
        </p:nvSpPr>
        <p:spPr>
          <a:xfrm>
            <a:off x="8279679" y="2840980"/>
            <a:ext cx="163196" cy="16319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rt_dot"/>
          <p:cNvSpPr/>
          <p:nvPr/>
        </p:nvSpPr>
        <p:spPr>
          <a:xfrm>
            <a:off x="10733096" y="4899654"/>
            <a:ext cx="199015" cy="19901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rt_dot"/>
          <p:cNvSpPr/>
          <p:nvPr/>
        </p:nvSpPr>
        <p:spPr>
          <a:xfrm>
            <a:off x="11642561" y="3338583"/>
            <a:ext cx="149089" cy="14908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rt_dot"/>
          <p:cNvSpPr/>
          <p:nvPr/>
        </p:nvSpPr>
        <p:spPr>
          <a:xfrm>
            <a:off x="11217501" y="4713074"/>
            <a:ext cx="123539" cy="12353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rt_dot"/>
          <p:cNvSpPr/>
          <p:nvPr/>
        </p:nvSpPr>
        <p:spPr>
          <a:xfrm>
            <a:off x="9064661" y="4273502"/>
            <a:ext cx="94959" cy="9495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_to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2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logo" descr="powerstack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87" y="914400"/>
            <a:ext cx="3474720" cy="1737360"/>
          </a:xfrm>
          <a:prstGeom prst="rect">
            <a:avLst/>
          </a:prstGeom>
        </p:spPr>
      </p:pic>
      <p:sp>
        <p:nvSpPr>
          <p:cNvPr id="59" name="product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6EC5F7"/>
                </a:solidFill>
                <a:latin typeface="Aptos"/>
              </a:rPr>
              <a:t>BI for Intune</a:t>
            </a:r>
          </a:p>
        </p:txBody>
      </p:sp>
      <p:sp>
        <p:nvSpPr>
          <p:cNvPr id="60" name="presentation_title"/>
          <p:cNvSpPr txBox="1"/>
          <p:nvPr/>
        </p:nvSpPr>
        <p:spPr>
          <a:xfrm>
            <a:off x="548640" y="333756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8F9FF"/>
                </a:solidFill>
                <a:latin typeface="Aptos"/>
              </a:rPr>
              <a:t>[PRESENTATION TITLE]</a:t>
            </a:r>
          </a:p>
        </p:txBody>
      </p:sp>
      <p:sp>
        <p:nvSpPr>
          <p:cNvPr id="61" name="accent_rule"/>
          <p:cNvSpPr/>
          <p:nvPr/>
        </p:nvSpPr>
        <p:spPr>
          <a:xfrm>
            <a:off x="5364327" y="4297680"/>
            <a:ext cx="1463040" cy="54864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udience"/>
          <p:cNvSpPr txBox="1"/>
          <p:nvPr/>
        </p:nvSpPr>
        <p:spPr>
          <a:xfrm>
            <a:off x="548640" y="457200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8F9FF"/>
                </a:solidFill>
                <a:latin typeface="Aptos"/>
              </a:rPr>
              <a:t>[Audience]</a:t>
            </a:r>
          </a:p>
        </p:txBody>
      </p:sp>
      <p:sp>
        <p:nvSpPr>
          <p:cNvPr id="63" name="collection_time"/>
          <p:cNvSpPr txBox="1"/>
          <p:nvPr/>
        </p:nvSpPr>
        <p:spPr>
          <a:xfrm>
            <a:off x="548640" y="5074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9C4D7"/>
                </a:solidFill>
                <a:latin typeface="Aptos"/>
              </a:rPr>
              <a:t>[Data collected: date and time UTC]</a:t>
            </a:r>
          </a:p>
        </p:txBody>
      </p:sp>
      <p:sp>
        <p:nvSpPr>
          <p:cNvPr id="64" name="scope"/>
          <p:cNvSpPr txBox="1"/>
          <p:nvPr/>
        </p:nvSpPr>
        <p:spPr>
          <a:xfrm>
            <a:off x="548640" y="53949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9C4D7"/>
                </a:solidFill>
                <a:latin typeface="Aptos"/>
              </a:rPr>
              <a:t>[Scope]</a:t>
            </a:r>
          </a:p>
        </p:txBody>
      </p:sp>
      <p:sp>
        <p:nvSpPr>
          <p:cNvPr id="65" name="brand_footer"/>
          <p:cNvSpPr txBox="1"/>
          <p:nvPr/>
        </p:nvSpPr>
        <p:spPr>
          <a:xfrm>
            <a:off x="8716975" y="6419088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C4D7"/>
                </a:solidFill>
                <a:latin typeface="Aptos"/>
              </a:rPr>
              <a:t>POWERSTACKS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rt_line"/>
          <p:cNvCxnSpPr/>
          <p:nvPr/>
        </p:nvCxnSpPr>
        <p:spPr>
          <a:xfrm flipH="1" flipV="1">
            <a:off x="11540708" y="5468623"/>
            <a:ext cx="257021" cy="82881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art_line"/>
          <p:cNvCxnSpPr/>
          <p:nvPr/>
        </p:nvCxnSpPr>
        <p:spPr>
          <a:xfrm flipH="1" flipV="1">
            <a:off x="10885756" y="6071215"/>
            <a:ext cx="911973" cy="22622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rt_line"/>
          <p:cNvCxnSpPr/>
          <p:nvPr/>
        </p:nvCxnSpPr>
        <p:spPr>
          <a:xfrm flipH="1" flipV="1">
            <a:off x="8011661" y="1247853"/>
            <a:ext cx="84876" cy="31506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rt_line"/>
          <p:cNvCxnSpPr/>
          <p:nvPr/>
        </p:nvCxnSpPr>
        <p:spPr>
          <a:xfrm flipV="1">
            <a:off x="8096537" y="1228174"/>
            <a:ext cx="738903" cy="33474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art_line"/>
          <p:cNvCxnSpPr/>
          <p:nvPr/>
        </p:nvCxnSpPr>
        <p:spPr>
          <a:xfrm flipH="1" flipV="1">
            <a:off x="10966415" y="5020883"/>
            <a:ext cx="335335" cy="11422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t_line"/>
          <p:cNvCxnSpPr/>
          <p:nvPr/>
        </p:nvCxnSpPr>
        <p:spPr>
          <a:xfrm>
            <a:off x="11301750" y="5135105"/>
            <a:ext cx="238958" cy="33351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t_line"/>
          <p:cNvCxnSpPr/>
          <p:nvPr/>
        </p:nvCxnSpPr>
        <p:spPr>
          <a:xfrm flipV="1">
            <a:off x="10619646" y="2094946"/>
            <a:ext cx="19543" cy="69289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t_line"/>
          <p:cNvCxnSpPr/>
          <p:nvPr/>
        </p:nvCxnSpPr>
        <p:spPr>
          <a:xfrm flipH="1">
            <a:off x="9776785" y="2787839"/>
            <a:ext cx="842861" cy="5666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t_line"/>
          <p:cNvCxnSpPr/>
          <p:nvPr/>
        </p:nvCxnSpPr>
        <p:spPr>
          <a:xfrm flipH="1" flipV="1">
            <a:off x="10027207" y="4172464"/>
            <a:ext cx="329972" cy="25397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t_line"/>
          <p:cNvCxnSpPr/>
          <p:nvPr/>
        </p:nvCxnSpPr>
        <p:spPr>
          <a:xfrm flipH="1" flipV="1">
            <a:off x="9762436" y="4007023"/>
            <a:ext cx="594743" cy="41941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t_line"/>
          <p:cNvCxnSpPr/>
          <p:nvPr/>
        </p:nvCxnSpPr>
        <p:spPr>
          <a:xfrm>
            <a:off x="10255378" y="1966231"/>
            <a:ext cx="383811" cy="12871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t_line"/>
          <p:cNvCxnSpPr/>
          <p:nvPr/>
        </p:nvCxnSpPr>
        <p:spPr>
          <a:xfrm flipH="1">
            <a:off x="9694326" y="1966231"/>
            <a:ext cx="561052" cy="60272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t_line"/>
          <p:cNvCxnSpPr/>
          <p:nvPr/>
        </p:nvCxnSpPr>
        <p:spPr>
          <a:xfrm flipV="1">
            <a:off x="9635959" y="2844507"/>
            <a:ext cx="140826" cy="41184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t_line"/>
          <p:cNvCxnSpPr/>
          <p:nvPr/>
        </p:nvCxnSpPr>
        <p:spPr>
          <a:xfrm flipV="1">
            <a:off x="9635959" y="2568956"/>
            <a:ext cx="58367" cy="68739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t_line"/>
          <p:cNvCxnSpPr/>
          <p:nvPr/>
        </p:nvCxnSpPr>
        <p:spPr>
          <a:xfrm flipV="1">
            <a:off x="10838890" y="6071215"/>
            <a:ext cx="46866" cy="48404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t_line"/>
          <p:cNvCxnSpPr/>
          <p:nvPr/>
        </p:nvCxnSpPr>
        <p:spPr>
          <a:xfrm flipH="1">
            <a:off x="9963309" y="6555258"/>
            <a:ext cx="875581" cy="2119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t_line"/>
          <p:cNvCxnSpPr/>
          <p:nvPr/>
        </p:nvCxnSpPr>
        <p:spPr>
          <a:xfrm flipH="1">
            <a:off x="10966415" y="4082852"/>
            <a:ext cx="803997" cy="93803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t_line"/>
          <p:cNvCxnSpPr/>
          <p:nvPr/>
        </p:nvCxnSpPr>
        <p:spPr>
          <a:xfrm>
            <a:off x="9694326" y="2568956"/>
            <a:ext cx="82459" cy="27555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t_line"/>
          <p:cNvCxnSpPr/>
          <p:nvPr/>
        </p:nvCxnSpPr>
        <p:spPr>
          <a:xfrm flipV="1">
            <a:off x="8011661" y="1228174"/>
            <a:ext cx="823779" cy="1967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t_line"/>
          <p:cNvCxnSpPr/>
          <p:nvPr/>
        </p:nvCxnSpPr>
        <p:spPr>
          <a:xfrm>
            <a:off x="9427525" y="5989993"/>
            <a:ext cx="452624" cy="18128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t_line"/>
          <p:cNvCxnSpPr/>
          <p:nvPr/>
        </p:nvCxnSpPr>
        <p:spPr>
          <a:xfrm flipH="1">
            <a:off x="9319602" y="5989993"/>
            <a:ext cx="107923" cy="48931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t_line"/>
          <p:cNvCxnSpPr/>
          <p:nvPr/>
        </p:nvCxnSpPr>
        <p:spPr>
          <a:xfrm flipH="1" flipV="1">
            <a:off x="9762436" y="4007023"/>
            <a:ext cx="264771" cy="16544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t_line"/>
          <p:cNvCxnSpPr/>
          <p:nvPr/>
        </p:nvCxnSpPr>
        <p:spPr>
          <a:xfrm>
            <a:off x="8835440" y="1228174"/>
            <a:ext cx="366298" cy="61908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rt_line"/>
          <p:cNvCxnSpPr/>
          <p:nvPr/>
        </p:nvCxnSpPr>
        <p:spPr>
          <a:xfrm flipH="1" flipV="1">
            <a:off x="9880149" y="6171278"/>
            <a:ext cx="83160" cy="40517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rt_line"/>
          <p:cNvCxnSpPr/>
          <p:nvPr/>
        </p:nvCxnSpPr>
        <p:spPr>
          <a:xfrm flipH="1" flipV="1">
            <a:off x="9319602" y="6479309"/>
            <a:ext cx="643707" cy="9714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rt_line"/>
          <p:cNvCxnSpPr/>
          <p:nvPr/>
        </p:nvCxnSpPr>
        <p:spPr>
          <a:xfrm flipH="1" flipV="1">
            <a:off x="11002961" y="5430151"/>
            <a:ext cx="537747" cy="3847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rt_line"/>
          <p:cNvCxnSpPr/>
          <p:nvPr/>
        </p:nvCxnSpPr>
        <p:spPr>
          <a:xfrm flipV="1">
            <a:off x="10885756" y="5430151"/>
            <a:ext cx="117205" cy="64106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rt_line"/>
          <p:cNvCxnSpPr/>
          <p:nvPr/>
        </p:nvCxnSpPr>
        <p:spPr>
          <a:xfrm flipH="1" flipV="1">
            <a:off x="10966415" y="5020883"/>
            <a:ext cx="36546" cy="40926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rt_line"/>
          <p:cNvCxnSpPr/>
          <p:nvPr/>
        </p:nvCxnSpPr>
        <p:spPr>
          <a:xfrm flipV="1">
            <a:off x="9319602" y="6171278"/>
            <a:ext cx="560547" cy="30803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t_dot"/>
          <p:cNvSpPr/>
          <p:nvPr/>
        </p:nvSpPr>
        <p:spPr>
          <a:xfrm>
            <a:off x="11729095" y="6228806"/>
            <a:ext cx="137267" cy="13726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t_dot"/>
          <p:cNvSpPr/>
          <p:nvPr/>
        </p:nvSpPr>
        <p:spPr>
          <a:xfrm>
            <a:off x="8006737" y="1473121"/>
            <a:ext cx="179600" cy="17960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dot"/>
          <p:cNvSpPr/>
          <p:nvPr/>
        </p:nvSpPr>
        <p:spPr>
          <a:xfrm>
            <a:off x="11242520" y="5075875"/>
            <a:ext cx="118459" cy="11845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t_dot"/>
          <p:cNvSpPr/>
          <p:nvPr/>
        </p:nvSpPr>
        <p:spPr>
          <a:xfrm>
            <a:off x="10526561" y="2694754"/>
            <a:ext cx="186171" cy="18617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dot"/>
          <p:cNvSpPr/>
          <p:nvPr/>
        </p:nvSpPr>
        <p:spPr>
          <a:xfrm>
            <a:off x="10263015" y="4332272"/>
            <a:ext cx="188328" cy="18832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t_dot"/>
          <p:cNvSpPr/>
          <p:nvPr/>
        </p:nvSpPr>
        <p:spPr>
          <a:xfrm>
            <a:off x="10189293" y="1900147"/>
            <a:ext cx="132168" cy="13216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dot"/>
          <p:cNvSpPr/>
          <p:nvPr/>
        </p:nvSpPr>
        <p:spPr>
          <a:xfrm>
            <a:off x="9563045" y="3183439"/>
            <a:ext cx="145827" cy="14582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_dot"/>
          <p:cNvSpPr/>
          <p:nvPr/>
        </p:nvSpPr>
        <p:spPr>
          <a:xfrm>
            <a:off x="10743405" y="6459773"/>
            <a:ext cx="190969" cy="19096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dot"/>
          <p:cNvSpPr/>
          <p:nvPr/>
        </p:nvSpPr>
        <p:spPr>
          <a:xfrm>
            <a:off x="11687509" y="3999949"/>
            <a:ext cx="165806" cy="16580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t_dot"/>
          <p:cNvSpPr/>
          <p:nvPr/>
        </p:nvSpPr>
        <p:spPr>
          <a:xfrm>
            <a:off x="9626603" y="2501233"/>
            <a:ext cx="135445" cy="13544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dot"/>
          <p:cNvSpPr/>
          <p:nvPr/>
        </p:nvSpPr>
        <p:spPr>
          <a:xfrm>
            <a:off x="7960887" y="1197079"/>
            <a:ext cx="101547" cy="10154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rt_dot"/>
          <p:cNvSpPr/>
          <p:nvPr/>
        </p:nvSpPr>
        <p:spPr>
          <a:xfrm>
            <a:off x="9719427" y="2787149"/>
            <a:ext cx="114714" cy="11471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dot"/>
          <p:cNvSpPr/>
          <p:nvPr/>
        </p:nvSpPr>
        <p:spPr>
          <a:xfrm>
            <a:off x="9346171" y="5908639"/>
            <a:ext cx="162708" cy="16270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rt_dot"/>
          <p:cNvSpPr/>
          <p:nvPr/>
        </p:nvSpPr>
        <p:spPr>
          <a:xfrm>
            <a:off x="9980001" y="4125258"/>
            <a:ext cx="94411" cy="9441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t_dot"/>
          <p:cNvSpPr/>
          <p:nvPr/>
        </p:nvSpPr>
        <p:spPr>
          <a:xfrm>
            <a:off x="8740749" y="1133483"/>
            <a:ext cx="189382" cy="18938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t_dot"/>
          <p:cNvSpPr/>
          <p:nvPr/>
        </p:nvSpPr>
        <p:spPr>
          <a:xfrm>
            <a:off x="9147999" y="1793517"/>
            <a:ext cx="107477" cy="10747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t_dot"/>
          <p:cNvSpPr/>
          <p:nvPr/>
        </p:nvSpPr>
        <p:spPr>
          <a:xfrm>
            <a:off x="9868397" y="6481546"/>
            <a:ext cx="189822" cy="18982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t_dot"/>
          <p:cNvSpPr/>
          <p:nvPr/>
        </p:nvSpPr>
        <p:spPr>
          <a:xfrm>
            <a:off x="10582798" y="2038555"/>
            <a:ext cx="112781" cy="11278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t_dot"/>
          <p:cNvSpPr/>
          <p:nvPr/>
        </p:nvSpPr>
        <p:spPr>
          <a:xfrm>
            <a:off x="11442853" y="5370768"/>
            <a:ext cx="195709" cy="19570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rt_dot"/>
          <p:cNvSpPr/>
          <p:nvPr/>
        </p:nvSpPr>
        <p:spPr>
          <a:xfrm>
            <a:off x="10803977" y="5989436"/>
            <a:ext cx="163557" cy="16355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t_dot"/>
          <p:cNvSpPr/>
          <p:nvPr/>
        </p:nvSpPr>
        <p:spPr>
          <a:xfrm>
            <a:off x="10934109" y="5361299"/>
            <a:ext cx="137703" cy="13770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rt_dot"/>
          <p:cNvSpPr/>
          <p:nvPr/>
        </p:nvSpPr>
        <p:spPr>
          <a:xfrm>
            <a:off x="9249886" y="6409593"/>
            <a:ext cx="139431" cy="13943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rt_dot"/>
          <p:cNvSpPr/>
          <p:nvPr/>
        </p:nvSpPr>
        <p:spPr>
          <a:xfrm>
            <a:off x="11743598" y="1903331"/>
            <a:ext cx="156543" cy="15654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rt_dot"/>
          <p:cNvSpPr/>
          <p:nvPr/>
        </p:nvSpPr>
        <p:spPr>
          <a:xfrm>
            <a:off x="10892206" y="4946674"/>
            <a:ext cx="148418" cy="14841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rt_dot"/>
          <p:cNvSpPr/>
          <p:nvPr/>
        </p:nvSpPr>
        <p:spPr>
          <a:xfrm>
            <a:off x="9705899" y="3950487"/>
            <a:ext cx="113073" cy="11307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rt_dot"/>
          <p:cNvSpPr/>
          <p:nvPr/>
        </p:nvSpPr>
        <p:spPr>
          <a:xfrm>
            <a:off x="9830271" y="6121400"/>
            <a:ext cx="99756" cy="9975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_to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2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itle_bar"/>
          <p:cNvSpPr/>
          <p:nvPr/>
        </p:nvSpPr>
        <p:spPr>
          <a:xfrm>
            <a:off x="0" y="109728"/>
            <a:ext cx="12191695" cy="713232"/>
          </a:xfrm>
          <a:prstGeom prst="rect">
            <a:avLst/>
          </a:prstGeom>
          <a:solidFill>
            <a:srgbClr val="212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ar_accent"/>
          <p:cNvSpPr/>
          <p:nvPr/>
        </p:nvSpPr>
        <p:spPr>
          <a:xfrm>
            <a:off x="0" y="109728"/>
            <a:ext cx="109728" cy="713232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logo" descr="powerstack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"/>
            <a:ext cx="1097280" cy="548640"/>
          </a:xfrm>
          <a:prstGeom prst="rect">
            <a:avLst/>
          </a:prstGeom>
        </p:spPr>
      </p:pic>
      <p:sp>
        <p:nvSpPr>
          <p:cNvPr id="61" name="slide_title"/>
          <p:cNvSpPr txBox="1"/>
          <p:nvPr/>
        </p:nvSpPr>
        <p:spPr>
          <a:xfrm>
            <a:off x="1737360" y="109728"/>
            <a:ext cx="99056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9FF"/>
                </a:solidFill>
                <a:latin typeface="Aptos"/>
              </a:rPr>
              <a:t>[SLIDE TITLE]</a:t>
            </a:r>
          </a:p>
        </p:txBody>
      </p:sp>
      <p:sp>
        <p:nvSpPr>
          <p:cNvPr id="62" name="metric_card_0"/>
          <p:cNvSpPr/>
          <p:nvPr/>
        </p:nvSpPr>
        <p:spPr>
          <a:xfrm>
            <a:off x="548640" y="1554480"/>
            <a:ext cx="3515258" cy="169164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etric_status_0"/>
          <p:cNvSpPr/>
          <p:nvPr/>
        </p:nvSpPr>
        <p:spPr>
          <a:xfrm>
            <a:off x="548640" y="1554480"/>
            <a:ext cx="64008" cy="1691640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etric_label_0"/>
          <p:cNvSpPr txBox="1"/>
          <p:nvPr/>
        </p:nvSpPr>
        <p:spPr>
          <a:xfrm>
            <a:off x="868680" y="1810512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9C4D7"/>
                </a:solidFill>
                <a:latin typeface="Aptos"/>
              </a:rPr>
              <a:t>[METRIC 1]</a:t>
            </a:r>
          </a:p>
        </p:txBody>
      </p:sp>
      <p:sp>
        <p:nvSpPr>
          <p:cNvPr id="65" name="metric_value_0"/>
          <p:cNvSpPr txBox="1"/>
          <p:nvPr/>
        </p:nvSpPr>
        <p:spPr>
          <a:xfrm>
            <a:off x="868680" y="2267712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8F9FF"/>
                </a:solidFill>
                <a:latin typeface="Aptos"/>
              </a:rPr>
              <a:t>[Value 1]</a:t>
            </a:r>
          </a:p>
        </p:txBody>
      </p:sp>
      <p:sp>
        <p:nvSpPr>
          <p:cNvPr id="66" name="metric_card_1"/>
          <p:cNvSpPr/>
          <p:nvPr/>
        </p:nvSpPr>
        <p:spPr>
          <a:xfrm>
            <a:off x="4338218" y="1554480"/>
            <a:ext cx="3515258" cy="169164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metric_status_1"/>
          <p:cNvSpPr/>
          <p:nvPr/>
        </p:nvSpPr>
        <p:spPr>
          <a:xfrm>
            <a:off x="4338218" y="1554480"/>
            <a:ext cx="64008" cy="1691640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metric_label_1"/>
          <p:cNvSpPr txBox="1"/>
          <p:nvPr/>
        </p:nvSpPr>
        <p:spPr>
          <a:xfrm>
            <a:off x="4658258" y="1810512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9C4D7"/>
                </a:solidFill>
                <a:latin typeface="Aptos"/>
              </a:rPr>
              <a:t>[METRIC 2]</a:t>
            </a:r>
          </a:p>
        </p:txBody>
      </p:sp>
      <p:sp>
        <p:nvSpPr>
          <p:cNvPr id="69" name="metric_value_1"/>
          <p:cNvSpPr txBox="1"/>
          <p:nvPr/>
        </p:nvSpPr>
        <p:spPr>
          <a:xfrm>
            <a:off x="4658258" y="2267712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8F9FF"/>
                </a:solidFill>
                <a:latin typeface="Aptos"/>
              </a:rPr>
              <a:t>[Value 2]</a:t>
            </a:r>
          </a:p>
        </p:txBody>
      </p:sp>
      <p:sp>
        <p:nvSpPr>
          <p:cNvPr id="70" name="metric_card_2"/>
          <p:cNvSpPr/>
          <p:nvPr/>
        </p:nvSpPr>
        <p:spPr>
          <a:xfrm>
            <a:off x="8127796" y="1554480"/>
            <a:ext cx="3515258" cy="169164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metric_status_2"/>
          <p:cNvSpPr/>
          <p:nvPr/>
        </p:nvSpPr>
        <p:spPr>
          <a:xfrm>
            <a:off x="8127796" y="1554480"/>
            <a:ext cx="64008" cy="1691640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metric_label_2"/>
          <p:cNvSpPr txBox="1"/>
          <p:nvPr/>
        </p:nvSpPr>
        <p:spPr>
          <a:xfrm>
            <a:off x="8447836" y="1810512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9C4D7"/>
                </a:solidFill>
                <a:latin typeface="Aptos"/>
              </a:rPr>
              <a:t>[METRIC 3]</a:t>
            </a:r>
          </a:p>
        </p:txBody>
      </p:sp>
      <p:sp>
        <p:nvSpPr>
          <p:cNvPr id="73" name="metric_value_2"/>
          <p:cNvSpPr txBox="1"/>
          <p:nvPr/>
        </p:nvSpPr>
        <p:spPr>
          <a:xfrm>
            <a:off x="8447836" y="2267712"/>
            <a:ext cx="296661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8F9FF"/>
                </a:solidFill>
                <a:latin typeface="Aptos"/>
              </a:rPr>
              <a:t>[Value 3]</a:t>
            </a:r>
          </a:p>
        </p:txBody>
      </p:sp>
      <p:sp>
        <p:nvSpPr>
          <p:cNvPr id="74" name="summary_card"/>
          <p:cNvSpPr/>
          <p:nvPr/>
        </p:nvSpPr>
        <p:spPr>
          <a:xfrm>
            <a:off x="548640" y="3657600"/>
            <a:ext cx="11094415" cy="237744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ummary_stripe"/>
          <p:cNvSpPr/>
          <p:nvPr/>
        </p:nvSpPr>
        <p:spPr>
          <a:xfrm>
            <a:off x="548640" y="3657600"/>
            <a:ext cx="64008" cy="2377440"/>
          </a:xfrm>
          <a:prstGeom prst="rect">
            <a:avLst/>
          </a:prstGeom>
          <a:solidFill>
            <a:srgbClr val="6EC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ummary"/>
          <p:cNvSpPr txBox="1"/>
          <p:nvPr/>
        </p:nvSpPr>
        <p:spPr>
          <a:xfrm>
            <a:off x="868680" y="3886200"/>
            <a:ext cx="104543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8F9FF"/>
                </a:solidFill>
                <a:latin typeface="Aptos"/>
              </a:rPr>
              <a:t>[Headline: largest finding and next deadline]</a:t>
            </a:r>
          </a:p>
        </p:txBody>
      </p:sp>
      <p:sp>
        <p:nvSpPr>
          <p:cNvPr id="77" name="summary_caveat"/>
          <p:cNvSpPr txBox="1"/>
          <p:nvPr/>
        </p:nvSpPr>
        <p:spPr>
          <a:xfrm>
            <a:off x="868680" y="5257800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9C4D7"/>
                </a:solidFill>
                <a:latin typeface="Aptos"/>
              </a:rPr>
              <a:t>[Most material caveat]</a:t>
            </a:r>
          </a:p>
        </p:txBody>
      </p:sp>
      <p:sp>
        <p:nvSpPr>
          <p:cNvPr id="78" name="page_number"/>
          <p:cNvSpPr txBox="1"/>
          <p:nvPr/>
        </p:nvSpPr>
        <p:spPr>
          <a:xfrm>
            <a:off x="548640" y="6419088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C5F7"/>
                </a:solidFill>
                <a:latin typeface="Aptos"/>
              </a:rPr>
              <a:t>00</a:t>
            </a:r>
          </a:p>
        </p:txBody>
      </p:sp>
      <p:sp>
        <p:nvSpPr>
          <p:cNvPr id="79" name="source_footer"/>
          <p:cNvSpPr txBox="1"/>
          <p:nvPr/>
        </p:nvSpPr>
        <p:spPr>
          <a:xfrm>
            <a:off x="1005840" y="6419088"/>
            <a:ext cx="7863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B9C4D7"/>
                </a:solidFill>
                <a:latin typeface="Aptos"/>
              </a:rPr>
              <a:t>[Source]  |  [Data collected: UTC]  |  [Scope]</a:t>
            </a:r>
          </a:p>
        </p:txBody>
      </p:sp>
      <p:sp>
        <p:nvSpPr>
          <p:cNvPr id="80" name="brand_footer"/>
          <p:cNvSpPr txBox="1"/>
          <p:nvPr/>
        </p:nvSpPr>
        <p:spPr>
          <a:xfrm>
            <a:off x="8716975" y="6419088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C4D7"/>
                </a:solidFill>
                <a:latin typeface="Aptos"/>
              </a:rPr>
              <a:t>POWERSTACKS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rt_line"/>
          <p:cNvCxnSpPr/>
          <p:nvPr/>
        </p:nvCxnSpPr>
        <p:spPr>
          <a:xfrm>
            <a:off x="8843016" y="4083139"/>
            <a:ext cx="464750" cy="22409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art_line"/>
          <p:cNvCxnSpPr/>
          <p:nvPr/>
        </p:nvCxnSpPr>
        <p:spPr>
          <a:xfrm>
            <a:off x="8843016" y="4083139"/>
            <a:ext cx="543115" cy="32748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rt_line"/>
          <p:cNvCxnSpPr/>
          <p:nvPr/>
        </p:nvCxnSpPr>
        <p:spPr>
          <a:xfrm flipH="1" flipV="1">
            <a:off x="9307766" y="4307230"/>
            <a:ext cx="78365" cy="10339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rt_line"/>
          <p:cNvCxnSpPr/>
          <p:nvPr/>
        </p:nvCxnSpPr>
        <p:spPr>
          <a:xfrm flipV="1">
            <a:off x="10438553" y="1448582"/>
            <a:ext cx="188010" cy="821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art_line"/>
          <p:cNvCxnSpPr/>
          <p:nvPr/>
        </p:nvCxnSpPr>
        <p:spPr>
          <a:xfrm>
            <a:off x="10438553" y="1456797"/>
            <a:ext cx="54924" cy="46682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t_line"/>
          <p:cNvCxnSpPr/>
          <p:nvPr/>
        </p:nvCxnSpPr>
        <p:spPr>
          <a:xfrm flipH="1" flipV="1">
            <a:off x="8423324" y="2287757"/>
            <a:ext cx="507705" cy="9515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t_line"/>
          <p:cNvCxnSpPr/>
          <p:nvPr/>
        </p:nvCxnSpPr>
        <p:spPr>
          <a:xfrm flipV="1">
            <a:off x="8931029" y="1267422"/>
            <a:ext cx="172467" cy="111549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t_line"/>
          <p:cNvCxnSpPr/>
          <p:nvPr/>
        </p:nvCxnSpPr>
        <p:spPr>
          <a:xfrm flipH="1" flipV="1">
            <a:off x="11836597" y="3490238"/>
            <a:ext cx="124122" cy="18709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t_line"/>
          <p:cNvCxnSpPr/>
          <p:nvPr/>
        </p:nvCxnSpPr>
        <p:spPr>
          <a:xfrm flipH="1">
            <a:off x="11425311" y="3677333"/>
            <a:ext cx="535408" cy="1363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t_line"/>
          <p:cNvCxnSpPr/>
          <p:nvPr/>
        </p:nvCxnSpPr>
        <p:spPr>
          <a:xfrm flipV="1">
            <a:off x="11305711" y="3690970"/>
            <a:ext cx="119600" cy="1977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t_line"/>
          <p:cNvCxnSpPr/>
          <p:nvPr/>
        </p:nvCxnSpPr>
        <p:spPr>
          <a:xfrm flipV="1">
            <a:off x="11305711" y="3490238"/>
            <a:ext cx="530886" cy="22050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t_line"/>
          <p:cNvCxnSpPr/>
          <p:nvPr/>
        </p:nvCxnSpPr>
        <p:spPr>
          <a:xfrm flipV="1">
            <a:off x="10493477" y="1448582"/>
            <a:ext cx="133086" cy="47503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t_line"/>
          <p:cNvCxnSpPr/>
          <p:nvPr/>
        </p:nvCxnSpPr>
        <p:spPr>
          <a:xfrm flipH="1">
            <a:off x="10267919" y="5859723"/>
            <a:ext cx="208245" cy="19836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t_line"/>
          <p:cNvCxnSpPr/>
          <p:nvPr/>
        </p:nvCxnSpPr>
        <p:spPr>
          <a:xfrm>
            <a:off x="10476164" y="5859723"/>
            <a:ext cx="345492" cy="5907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t_line"/>
          <p:cNvCxnSpPr/>
          <p:nvPr/>
        </p:nvCxnSpPr>
        <p:spPr>
          <a:xfrm flipH="1">
            <a:off x="9489035" y="5164084"/>
            <a:ext cx="527591" cy="32730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t_line"/>
          <p:cNvCxnSpPr/>
          <p:nvPr/>
        </p:nvCxnSpPr>
        <p:spPr>
          <a:xfrm flipV="1">
            <a:off x="10983805" y="3690970"/>
            <a:ext cx="441506" cy="64931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t_line"/>
          <p:cNvCxnSpPr/>
          <p:nvPr/>
        </p:nvCxnSpPr>
        <p:spPr>
          <a:xfrm flipH="1">
            <a:off x="8423324" y="1267422"/>
            <a:ext cx="680172" cy="102033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t_line"/>
          <p:cNvCxnSpPr/>
          <p:nvPr/>
        </p:nvCxnSpPr>
        <p:spPr>
          <a:xfrm flipV="1">
            <a:off x="11425311" y="3490238"/>
            <a:ext cx="411286" cy="20073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t_line"/>
          <p:cNvCxnSpPr/>
          <p:nvPr/>
        </p:nvCxnSpPr>
        <p:spPr>
          <a:xfrm flipH="1">
            <a:off x="10802339" y="5918798"/>
            <a:ext cx="19317" cy="23199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t_line"/>
          <p:cNvCxnSpPr/>
          <p:nvPr/>
        </p:nvCxnSpPr>
        <p:spPr>
          <a:xfrm flipH="1">
            <a:off x="10670060" y="5918798"/>
            <a:ext cx="151596" cy="27504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t_line"/>
          <p:cNvCxnSpPr/>
          <p:nvPr/>
        </p:nvCxnSpPr>
        <p:spPr>
          <a:xfrm flipH="1">
            <a:off x="10670060" y="6150795"/>
            <a:ext cx="132279" cy="4305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t_line"/>
          <p:cNvCxnSpPr/>
          <p:nvPr/>
        </p:nvCxnSpPr>
        <p:spPr>
          <a:xfrm>
            <a:off x="9489035" y="5491385"/>
            <a:ext cx="204331" cy="73889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t_line"/>
          <p:cNvCxnSpPr/>
          <p:nvPr/>
        </p:nvCxnSpPr>
        <p:spPr>
          <a:xfrm flipV="1">
            <a:off x="9693366" y="6058092"/>
            <a:ext cx="574553" cy="17219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rt_line"/>
          <p:cNvCxnSpPr/>
          <p:nvPr/>
        </p:nvCxnSpPr>
        <p:spPr>
          <a:xfrm flipH="1">
            <a:off x="9951043" y="2748830"/>
            <a:ext cx="491329" cy="46546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rt_line"/>
          <p:cNvCxnSpPr/>
          <p:nvPr/>
        </p:nvCxnSpPr>
        <p:spPr>
          <a:xfrm flipH="1">
            <a:off x="9307766" y="3214296"/>
            <a:ext cx="643277" cy="109293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rt_line"/>
          <p:cNvCxnSpPr/>
          <p:nvPr/>
        </p:nvCxnSpPr>
        <p:spPr>
          <a:xfrm>
            <a:off x="10267919" y="6058092"/>
            <a:ext cx="402141" cy="13575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t_dot"/>
          <p:cNvSpPr/>
          <p:nvPr/>
        </p:nvSpPr>
        <p:spPr>
          <a:xfrm>
            <a:off x="8751624" y="3991746"/>
            <a:ext cx="182784" cy="18278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t_dot"/>
          <p:cNvSpPr/>
          <p:nvPr/>
        </p:nvSpPr>
        <p:spPr>
          <a:xfrm>
            <a:off x="9286124" y="4310619"/>
            <a:ext cx="200014" cy="20001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t_dot"/>
          <p:cNvSpPr/>
          <p:nvPr/>
        </p:nvSpPr>
        <p:spPr>
          <a:xfrm>
            <a:off x="10359011" y="1377254"/>
            <a:ext cx="159085" cy="15908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t_dot"/>
          <p:cNvSpPr/>
          <p:nvPr/>
        </p:nvSpPr>
        <p:spPr>
          <a:xfrm>
            <a:off x="7871007" y="5644954"/>
            <a:ext cx="94031" cy="9403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t_dot"/>
          <p:cNvSpPr/>
          <p:nvPr/>
        </p:nvSpPr>
        <p:spPr>
          <a:xfrm>
            <a:off x="8839366" y="2291249"/>
            <a:ext cx="183327" cy="18332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dot"/>
          <p:cNvSpPr/>
          <p:nvPr/>
        </p:nvSpPr>
        <p:spPr>
          <a:xfrm>
            <a:off x="11862399" y="3579013"/>
            <a:ext cx="196640" cy="19664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t_dot"/>
          <p:cNvSpPr/>
          <p:nvPr/>
        </p:nvSpPr>
        <p:spPr>
          <a:xfrm>
            <a:off x="11211227" y="3616260"/>
            <a:ext cx="188967" cy="18896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dot"/>
          <p:cNvSpPr/>
          <p:nvPr/>
        </p:nvSpPr>
        <p:spPr>
          <a:xfrm>
            <a:off x="10420474" y="1850618"/>
            <a:ext cx="146006" cy="14600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t_dot"/>
          <p:cNvSpPr/>
          <p:nvPr/>
        </p:nvSpPr>
        <p:spPr>
          <a:xfrm>
            <a:off x="10393898" y="5777457"/>
            <a:ext cx="164531" cy="16453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dot"/>
          <p:cNvSpPr/>
          <p:nvPr/>
        </p:nvSpPr>
        <p:spPr>
          <a:xfrm>
            <a:off x="9966536" y="5113994"/>
            <a:ext cx="100179" cy="10017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_dot"/>
          <p:cNvSpPr/>
          <p:nvPr/>
        </p:nvSpPr>
        <p:spPr>
          <a:xfrm>
            <a:off x="10536758" y="1358776"/>
            <a:ext cx="179611" cy="17961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dot"/>
          <p:cNvSpPr/>
          <p:nvPr/>
        </p:nvSpPr>
        <p:spPr>
          <a:xfrm>
            <a:off x="10910519" y="4267002"/>
            <a:ext cx="146573" cy="14657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t_dot"/>
          <p:cNvSpPr/>
          <p:nvPr/>
        </p:nvSpPr>
        <p:spPr>
          <a:xfrm>
            <a:off x="9048680" y="1212607"/>
            <a:ext cx="109631" cy="10963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dot"/>
          <p:cNvSpPr/>
          <p:nvPr/>
        </p:nvSpPr>
        <p:spPr>
          <a:xfrm>
            <a:off x="11384673" y="3650332"/>
            <a:ext cx="81275" cy="8127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rt_dot"/>
          <p:cNvSpPr/>
          <p:nvPr/>
        </p:nvSpPr>
        <p:spPr>
          <a:xfrm>
            <a:off x="10730421" y="5827563"/>
            <a:ext cx="182470" cy="18247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dot"/>
          <p:cNvSpPr/>
          <p:nvPr/>
        </p:nvSpPr>
        <p:spPr>
          <a:xfrm>
            <a:off x="10702408" y="6050864"/>
            <a:ext cx="199863" cy="19986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rt_dot"/>
          <p:cNvSpPr/>
          <p:nvPr/>
        </p:nvSpPr>
        <p:spPr>
          <a:xfrm>
            <a:off x="9446793" y="5449144"/>
            <a:ext cx="84483" cy="8448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t_dot"/>
          <p:cNvSpPr/>
          <p:nvPr/>
        </p:nvSpPr>
        <p:spPr>
          <a:xfrm>
            <a:off x="9605546" y="6142462"/>
            <a:ext cx="175641" cy="17564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t_dot"/>
          <p:cNvSpPr/>
          <p:nvPr/>
        </p:nvSpPr>
        <p:spPr>
          <a:xfrm>
            <a:off x="11417351" y="1569104"/>
            <a:ext cx="125697" cy="12569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t_dot"/>
          <p:cNvSpPr/>
          <p:nvPr/>
        </p:nvSpPr>
        <p:spPr>
          <a:xfrm>
            <a:off x="8377098" y="2241530"/>
            <a:ext cx="92452" cy="9245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t_dot"/>
          <p:cNvSpPr/>
          <p:nvPr/>
        </p:nvSpPr>
        <p:spPr>
          <a:xfrm>
            <a:off x="11781210" y="3434851"/>
            <a:ext cx="110774" cy="11077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t_dot"/>
          <p:cNvSpPr/>
          <p:nvPr/>
        </p:nvSpPr>
        <p:spPr>
          <a:xfrm>
            <a:off x="10356587" y="2663045"/>
            <a:ext cx="171569" cy="17156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rt_dot"/>
          <p:cNvSpPr/>
          <p:nvPr/>
        </p:nvSpPr>
        <p:spPr>
          <a:xfrm>
            <a:off x="9858603" y="3121856"/>
            <a:ext cx="184880" cy="18488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t_dot"/>
          <p:cNvSpPr/>
          <p:nvPr/>
        </p:nvSpPr>
        <p:spPr>
          <a:xfrm>
            <a:off x="9268361" y="4267826"/>
            <a:ext cx="78809" cy="7880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rt_dot"/>
          <p:cNvSpPr/>
          <p:nvPr/>
        </p:nvSpPr>
        <p:spPr>
          <a:xfrm>
            <a:off x="10192008" y="5982181"/>
            <a:ext cx="151821" cy="15182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rt_dot"/>
          <p:cNvSpPr/>
          <p:nvPr/>
        </p:nvSpPr>
        <p:spPr>
          <a:xfrm>
            <a:off x="10630607" y="6154394"/>
            <a:ext cx="78905" cy="7890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ar_to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2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itle_bar"/>
          <p:cNvSpPr/>
          <p:nvPr/>
        </p:nvSpPr>
        <p:spPr>
          <a:xfrm>
            <a:off x="0" y="109728"/>
            <a:ext cx="12191695" cy="713232"/>
          </a:xfrm>
          <a:prstGeom prst="rect">
            <a:avLst/>
          </a:prstGeom>
          <a:solidFill>
            <a:srgbClr val="212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r_accent"/>
          <p:cNvSpPr/>
          <p:nvPr/>
        </p:nvSpPr>
        <p:spPr>
          <a:xfrm>
            <a:off x="0" y="109728"/>
            <a:ext cx="109728" cy="713232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logo" descr="powerstack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"/>
            <a:ext cx="1097280" cy="548640"/>
          </a:xfrm>
          <a:prstGeom prst="rect">
            <a:avLst/>
          </a:prstGeom>
        </p:spPr>
      </p:pic>
      <p:sp>
        <p:nvSpPr>
          <p:cNvPr id="58" name="slide_title"/>
          <p:cNvSpPr txBox="1"/>
          <p:nvPr/>
        </p:nvSpPr>
        <p:spPr>
          <a:xfrm>
            <a:off x="1737360" y="109728"/>
            <a:ext cx="99056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9FF"/>
                </a:solidFill>
                <a:latin typeface="Aptos"/>
              </a:rPr>
              <a:t>[SLIDE TITLE]</a:t>
            </a:r>
          </a:p>
        </p:txBody>
      </p:sp>
      <p:graphicFrame>
        <p:nvGraphicFramePr>
          <p:cNvPr id="59" name="table"/>
          <p:cNvGraphicFramePr>
            <a:graphicFrameLocks noGrp="1"/>
          </p:cNvGraphicFramePr>
          <p:nvPr/>
        </p:nvGraphicFramePr>
        <p:xfrm>
          <a:off x="548640" y="1554480"/>
          <a:ext cx="11094415" cy="3108960"/>
        </p:xfrm>
        <a:graphic>
          <a:graphicData uri="http://schemas.openxmlformats.org/drawingml/2006/table">
            <a:tbl>
              <a:tblPr firstRow="0" bandRow="0"/>
              <a:tblGrid>
                <a:gridCol w="6212872"/>
                <a:gridCol w="1996994"/>
                <a:gridCol w="2884549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9FF"/>
                          </a:solidFill>
                          <a:latin typeface="Aptos"/>
                        </a:rPr>
                        <a:t>FINDING</a:t>
                      </a:r>
                    </a:p>
                  </a:txBody>
                  <a:tcPr marL="128016" marR="128016" anchor="ctr">
                    <a:solidFill>
                      <a:srgbClr val="2127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9FF"/>
                          </a:solidFill>
                          <a:latin typeface="Aptos"/>
                        </a:rPr>
                        <a:t>AFFECTED DEVICES</a:t>
                      </a:r>
                    </a:p>
                  </a:txBody>
                  <a:tcPr marL="128016" marR="128016" anchor="ctr">
                    <a:solidFill>
                      <a:srgbClr val="2127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9FF"/>
                          </a:solidFill>
                          <a:latin typeface="Aptos"/>
                        </a:rPr>
                        <a:t>APPLICABLE DEVICES / SHARE</a:t>
                      </a:r>
                    </a:p>
                  </a:txBody>
                  <a:tcPr marL="128016" marR="128016" anchor="ctr">
                    <a:solidFill>
                      <a:srgbClr val="21277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[Finding]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[Count]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[Population / %]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[Finding]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[Count]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[Population / %]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[Finding]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[Count]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[Population / %]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[Finding]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[Count]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[Population / %]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</a:tr>
            </a:tbl>
          </a:graphicData>
        </a:graphic>
      </p:graphicFrame>
      <p:sp>
        <p:nvSpPr>
          <p:cNvPr id="60" name="ranking_note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C4D7"/>
                </a:solidFill>
                <a:latin typeface="Aptos"/>
              </a:rPr>
              <a:t>[Ranking method, filters, overlap note]</a:t>
            </a:r>
          </a:p>
        </p:txBody>
      </p:sp>
      <p:sp>
        <p:nvSpPr>
          <p:cNvPr id="61" name="page_number"/>
          <p:cNvSpPr txBox="1"/>
          <p:nvPr/>
        </p:nvSpPr>
        <p:spPr>
          <a:xfrm>
            <a:off x="548640" y="6419088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C5F7"/>
                </a:solidFill>
                <a:latin typeface="Aptos"/>
              </a:rPr>
              <a:t>00</a:t>
            </a:r>
          </a:p>
        </p:txBody>
      </p:sp>
      <p:sp>
        <p:nvSpPr>
          <p:cNvPr id="62" name="source_footer"/>
          <p:cNvSpPr txBox="1"/>
          <p:nvPr/>
        </p:nvSpPr>
        <p:spPr>
          <a:xfrm>
            <a:off x="1005840" y="6419088"/>
            <a:ext cx="7863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B9C4D7"/>
                </a:solidFill>
                <a:latin typeface="Aptos"/>
              </a:rPr>
              <a:t>[Source]  |  [Data collected: UTC]  |  [Scope]</a:t>
            </a:r>
          </a:p>
        </p:txBody>
      </p:sp>
      <p:sp>
        <p:nvSpPr>
          <p:cNvPr id="63" name="brand_footer"/>
          <p:cNvSpPr txBox="1"/>
          <p:nvPr/>
        </p:nvSpPr>
        <p:spPr>
          <a:xfrm>
            <a:off x="8716975" y="6419088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C4D7"/>
                </a:solidFill>
                <a:latin typeface="Aptos"/>
              </a:rPr>
              <a:t>POWERSTACKS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rt_line"/>
          <p:cNvCxnSpPr/>
          <p:nvPr/>
        </p:nvCxnSpPr>
        <p:spPr>
          <a:xfrm flipH="1">
            <a:off x="8574320" y="1663290"/>
            <a:ext cx="260810" cy="1655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art_line"/>
          <p:cNvCxnSpPr/>
          <p:nvPr/>
        </p:nvCxnSpPr>
        <p:spPr>
          <a:xfrm>
            <a:off x="8835130" y="1663290"/>
            <a:ext cx="658410" cy="28422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rt_line"/>
          <p:cNvCxnSpPr/>
          <p:nvPr/>
        </p:nvCxnSpPr>
        <p:spPr>
          <a:xfrm>
            <a:off x="9493540" y="1947519"/>
            <a:ext cx="452198" cy="12518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rt_line"/>
          <p:cNvCxnSpPr/>
          <p:nvPr/>
        </p:nvCxnSpPr>
        <p:spPr>
          <a:xfrm flipV="1">
            <a:off x="9493540" y="1587469"/>
            <a:ext cx="319019" cy="36005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art_line"/>
          <p:cNvCxnSpPr/>
          <p:nvPr/>
        </p:nvCxnSpPr>
        <p:spPr>
          <a:xfrm flipV="1">
            <a:off x="8137536" y="2771244"/>
            <a:ext cx="390106" cy="52932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t_line"/>
          <p:cNvCxnSpPr/>
          <p:nvPr/>
        </p:nvCxnSpPr>
        <p:spPr>
          <a:xfrm>
            <a:off x="8137536" y="3300568"/>
            <a:ext cx="880230" cy="72986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t_line"/>
          <p:cNvCxnSpPr/>
          <p:nvPr/>
        </p:nvCxnSpPr>
        <p:spPr>
          <a:xfrm flipH="1">
            <a:off x="11494398" y="5488881"/>
            <a:ext cx="146643" cy="26110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t_line"/>
          <p:cNvCxnSpPr/>
          <p:nvPr/>
        </p:nvCxnSpPr>
        <p:spPr>
          <a:xfrm>
            <a:off x="11641041" y="5488881"/>
            <a:ext cx="68443" cy="35679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t_line"/>
          <p:cNvCxnSpPr/>
          <p:nvPr/>
        </p:nvCxnSpPr>
        <p:spPr>
          <a:xfrm flipV="1">
            <a:off x="11012331" y="2158545"/>
            <a:ext cx="145191" cy="15632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t_line"/>
          <p:cNvCxnSpPr/>
          <p:nvPr/>
        </p:nvCxnSpPr>
        <p:spPr>
          <a:xfrm flipV="1">
            <a:off x="11012331" y="1573051"/>
            <a:ext cx="472741" cy="74181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t_line"/>
          <p:cNvCxnSpPr/>
          <p:nvPr/>
        </p:nvCxnSpPr>
        <p:spPr>
          <a:xfrm>
            <a:off x="10072170" y="2615271"/>
            <a:ext cx="45094" cy="12927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t_line"/>
          <p:cNvCxnSpPr/>
          <p:nvPr/>
        </p:nvCxnSpPr>
        <p:spPr>
          <a:xfrm flipH="1" flipV="1">
            <a:off x="9945738" y="2072708"/>
            <a:ext cx="126432" cy="54256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t_line"/>
          <p:cNvCxnSpPr/>
          <p:nvPr/>
        </p:nvCxnSpPr>
        <p:spPr>
          <a:xfrm>
            <a:off x="11274680" y="5522897"/>
            <a:ext cx="219718" cy="22709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t_line"/>
          <p:cNvCxnSpPr/>
          <p:nvPr/>
        </p:nvCxnSpPr>
        <p:spPr>
          <a:xfrm flipV="1">
            <a:off x="11157522" y="1573051"/>
            <a:ext cx="327550" cy="58549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t_line"/>
          <p:cNvCxnSpPr/>
          <p:nvPr/>
        </p:nvCxnSpPr>
        <p:spPr>
          <a:xfrm flipH="1" flipV="1">
            <a:off x="9017766" y="4030429"/>
            <a:ext cx="121044" cy="50668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t_line"/>
          <p:cNvCxnSpPr/>
          <p:nvPr/>
        </p:nvCxnSpPr>
        <p:spPr>
          <a:xfrm flipH="1" flipV="1">
            <a:off x="8054445" y="4533690"/>
            <a:ext cx="1084365" cy="342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t_line"/>
          <p:cNvCxnSpPr/>
          <p:nvPr/>
        </p:nvCxnSpPr>
        <p:spPr>
          <a:xfrm flipV="1">
            <a:off x="10875440" y="5749989"/>
            <a:ext cx="618958" cy="3623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t_line"/>
          <p:cNvCxnSpPr/>
          <p:nvPr/>
        </p:nvCxnSpPr>
        <p:spPr>
          <a:xfrm flipH="1" flipV="1">
            <a:off x="11207494" y="1334503"/>
            <a:ext cx="277578" cy="23854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t_line"/>
          <p:cNvCxnSpPr/>
          <p:nvPr/>
        </p:nvCxnSpPr>
        <p:spPr>
          <a:xfrm flipH="1" flipV="1">
            <a:off x="9812559" y="1587469"/>
            <a:ext cx="133179" cy="48523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t_line"/>
          <p:cNvCxnSpPr/>
          <p:nvPr/>
        </p:nvCxnSpPr>
        <p:spPr>
          <a:xfrm flipH="1" flipV="1">
            <a:off x="11494398" y="5749989"/>
            <a:ext cx="215086" cy="9568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t_line"/>
          <p:cNvCxnSpPr/>
          <p:nvPr/>
        </p:nvCxnSpPr>
        <p:spPr>
          <a:xfrm flipH="1">
            <a:off x="9955690" y="2744548"/>
            <a:ext cx="161574" cy="62380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t_line"/>
          <p:cNvCxnSpPr/>
          <p:nvPr/>
        </p:nvCxnSpPr>
        <p:spPr>
          <a:xfrm>
            <a:off x="9955690" y="3368353"/>
            <a:ext cx="372555" cy="9380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t_line"/>
          <p:cNvCxnSpPr/>
          <p:nvPr/>
        </p:nvCxnSpPr>
        <p:spPr>
          <a:xfrm flipV="1">
            <a:off x="8054445" y="4030429"/>
            <a:ext cx="963321" cy="50326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t_dot"/>
          <p:cNvSpPr/>
          <p:nvPr/>
        </p:nvSpPr>
        <p:spPr>
          <a:xfrm>
            <a:off x="8768391" y="1596550"/>
            <a:ext cx="133478" cy="13347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t_dot"/>
          <p:cNvSpPr/>
          <p:nvPr/>
        </p:nvSpPr>
        <p:spPr>
          <a:xfrm>
            <a:off x="9435019" y="1888999"/>
            <a:ext cx="117041" cy="11704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t_dot"/>
          <p:cNvSpPr/>
          <p:nvPr/>
        </p:nvSpPr>
        <p:spPr>
          <a:xfrm>
            <a:off x="8037126" y="3200159"/>
            <a:ext cx="200819" cy="20081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t_dot"/>
          <p:cNvSpPr/>
          <p:nvPr/>
        </p:nvSpPr>
        <p:spPr>
          <a:xfrm>
            <a:off x="11591947" y="5439787"/>
            <a:ext cx="98188" cy="9818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t_dot"/>
          <p:cNvSpPr/>
          <p:nvPr/>
        </p:nvSpPr>
        <p:spPr>
          <a:xfrm>
            <a:off x="10949332" y="2251868"/>
            <a:ext cx="125996" cy="12599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t_dot"/>
          <p:cNvSpPr/>
          <p:nvPr/>
        </p:nvSpPr>
        <p:spPr>
          <a:xfrm>
            <a:off x="10022622" y="2565723"/>
            <a:ext cx="99097" cy="9909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t_dot"/>
          <p:cNvSpPr/>
          <p:nvPr/>
        </p:nvSpPr>
        <p:spPr>
          <a:xfrm>
            <a:off x="8497248" y="1602772"/>
            <a:ext cx="154143" cy="15414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t_dot"/>
          <p:cNvSpPr/>
          <p:nvPr/>
        </p:nvSpPr>
        <p:spPr>
          <a:xfrm>
            <a:off x="8691793" y="6131520"/>
            <a:ext cx="108523" cy="10852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dot"/>
          <p:cNvSpPr/>
          <p:nvPr/>
        </p:nvSpPr>
        <p:spPr>
          <a:xfrm>
            <a:off x="11215328" y="5463545"/>
            <a:ext cx="118704" cy="11870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t_dot"/>
          <p:cNvSpPr/>
          <p:nvPr/>
        </p:nvSpPr>
        <p:spPr>
          <a:xfrm>
            <a:off x="11073136" y="2074158"/>
            <a:ext cx="168772" cy="16877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dot"/>
          <p:cNvSpPr/>
          <p:nvPr/>
        </p:nvSpPr>
        <p:spPr>
          <a:xfrm>
            <a:off x="9081709" y="4480017"/>
            <a:ext cx="114202" cy="11420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t_dot"/>
          <p:cNvSpPr/>
          <p:nvPr/>
        </p:nvSpPr>
        <p:spPr>
          <a:xfrm>
            <a:off x="10803114" y="5713896"/>
            <a:ext cx="144652" cy="14465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dot"/>
          <p:cNvSpPr/>
          <p:nvPr/>
        </p:nvSpPr>
        <p:spPr>
          <a:xfrm>
            <a:off x="11390613" y="1478591"/>
            <a:ext cx="188918" cy="18891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_dot"/>
          <p:cNvSpPr/>
          <p:nvPr/>
        </p:nvSpPr>
        <p:spPr>
          <a:xfrm>
            <a:off x="10313759" y="4739463"/>
            <a:ext cx="86078" cy="8607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dot"/>
          <p:cNvSpPr/>
          <p:nvPr/>
        </p:nvSpPr>
        <p:spPr>
          <a:xfrm>
            <a:off x="9905219" y="2032188"/>
            <a:ext cx="81039" cy="8103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t_dot"/>
          <p:cNvSpPr/>
          <p:nvPr/>
        </p:nvSpPr>
        <p:spPr>
          <a:xfrm>
            <a:off x="9761333" y="1536243"/>
            <a:ext cx="102450" cy="10245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dot"/>
          <p:cNvSpPr/>
          <p:nvPr/>
        </p:nvSpPr>
        <p:spPr>
          <a:xfrm>
            <a:off x="11623931" y="5760119"/>
            <a:ext cx="171105" cy="17110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rt_dot"/>
          <p:cNvSpPr/>
          <p:nvPr/>
        </p:nvSpPr>
        <p:spPr>
          <a:xfrm>
            <a:off x="10041295" y="2668579"/>
            <a:ext cx="151937" cy="15193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dot"/>
          <p:cNvSpPr/>
          <p:nvPr/>
        </p:nvSpPr>
        <p:spPr>
          <a:xfrm>
            <a:off x="11551886" y="4185740"/>
            <a:ext cx="103545" cy="10354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rt_dot"/>
          <p:cNvSpPr/>
          <p:nvPr/>
        </p:nvSpPr>
        <p:spPr>
          <a:xfrm>
            <a:off x="11436632" y="5692222"/>
            <a:ext cx="115533" cy="11553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t_dot"/>
          <p:cNvSpPr/>
          <p:nvPr/>
        </p:nvSpPr>
        <p:spPr>
          <a:xfrm>
            <a:off x="9907750" y="3320413"/>
            <a:ext cx="95879" cy="9587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t_dot"/>
          <p:cNvSpPr/>
          <p:nvPr/>
        </p:nvSpPr>
        <p:spPr>
          <a:xfrm>
            <a:off x="10262288" y="3396197"/>
            <a:ext cx="131913" cy="13191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t_dot"/>
          <p:cNvSpPr/>
          <p:nvPr/>
        </p:nvSpPr>
        <p:spPr>
          <a:xfrm>
            <a:off x="8488325" y="2731928"/>
            <a:ext cx="78632" cy="7863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t_dot"/>
          <p:cNvSpPr/>
          <p:nvPr/>
        </p:nvSpPr>
        <p:spPr>
          <a:xfrm>
            <a:off x="11126286" y="1253295"/>
            <a:ext cx="162416" cy="16241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t_dot"/>
          <p:cNvSpPr/>
          <p:nvPr/>
        </p:nvSpPr>
        <p:spPr>
          <a:xfrm>
            <a:off x="7960523" y="4439768"/>
            <a:ext cx="187845" cy="18784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rt_dot"/>
          <p:cNvSpPr/>
          <p:nvPr/>
        </p:nvSpPr>
        <p:spPr>
          <a:xfrm>
            <a:off x="8920079" y="3932742"/>
            <a:ext cx="195373" cy="19537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ar_to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2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itle_bar"/>
          <p:cNvSpPr/>
          <p:nvPr/>
        </p:nvSpPr>
        <p:spPr>
          <a:xfrm>
            <a:off x="0" y="109728"/>
            <a:ext cx="12191695" cy="713232"/>
          </a:xfrm>
          <a:prstGeom prst="rect">
            <a:avLst/>
          </a:prstGeom>
          <a:solidFill>
            <a:srgbClr val="212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r_accent"/>
          <p:cNvSpPr/>
          <p:nvPr/>
        </p:nvSpPr>
        <p:spPr>
          <a:xfrm>
            <a:off x="0" y="109728"/>
            <a:ext cx="109728" cy="713232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logo" descr="powerstack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"/>
            <a:ext cx="1097280" cy="548640"/>
          </a:xfrm>
          <a:prstGeom prst="rect">
            <a:avLst/>
          </a:prstGeom>
        </p:spPr>
      </p:pic>
      <p:sp>
        <p:nvSpPr>
          <p:cNvPr id="55" name="slide_title"/>
          <p:cNvSpPr txBox="1"/>
          <p:nvPr/>
        </p:nvSpPr>
        <p:spPr>
          <a:xfrm>
            <a:off x="1737360" y="109728"/>
            <a:ext cx="99056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9FF"/>
                </a:solidFill>
                <a:latin typeface="Aptos"/>
              </a:rPr>
              <a:t>[SLIDE TITLE]</a:t>
            </a:r>
          </a:p>
        </p:txBody>
      </p:sp>
      <p:sp>
        <p:nvSpPr>
          <p:cNvPr id="56" name="main_metric"/>
          <p:cNvSpPr txBox="1"/>
          <p:nvPr/>
        </p:nvSpPr>
        <p:spPr>
          <a:xfrm>
            <a:off x="548640" y="1417320"/>
            <a:ext cx="6766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6EC5F7"/>
                </a:solidFill>
                <a:latin typeface="Aptos"/>
              </a:rPr>
              <a:t>[Count (share)]</a:t>
            </a:r>
          </a:p>
        </p:txBody>
      </p:sp>
      <p:sp>
        <p:nvSpPr>
          <p:cNvPr id="57" name="donut_placeholder"/>
          <p:cNvSpPr/>
          <p:nvPr/>
        </p:nvSpPr>
        <p:spPr>
          <a:xfrm>
            <a:off x="548640" y="2240280"/>
            <a:ext cx="2697480" cy="278892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B9C4D7"/>
                </a:solidFill>
                <a:latin typeface="Aptos"/>
              </a:rPr>
              <a:t>[Affected vs not affected]</a:t>
            </a:r>
          </a:p>
        </p:txBody>
      </p:sp>
      <p:sp>
        <p:nvSpPr>
          <p:cNvPr id="58" name="chart_placeholder"/>
          <p:cNvSpPr/>
          <p:nvPr/>
        </p:nvSpPr>
        <p:spPr>
          <a:xfrm>
            <a:off x="3429000" y="2240280"/>
            <a:ext cx="3931920" cy="278892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B9C4D7"/>
                </a:solidFill>
                <a:latin typeface="Aptos"/>
              </a:rPr>
              <a:t>[Check-in chart]</a:t>
            </a:r>
          </a:p>
        </p:txBody>
      </p:sp>
      <p:sp>
        <p:nvSpPr>
          <p:cNvPr id="59" name="narrative_card"/>
          <p:cNvSpPr/>
          <p:nvPr/>
        </p:nvSpPr>
        <p:spPr>
          <a:xfrm>
            <a:off x="7726680" y="1417320"/>
            <a:ext cx="3916375" cy="457200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arrative_stripe"/>
          <p:cNvSpPr/>
          <p:nvPr/>
        </p:nvSpPr>
        <p:spPr>
          <a:xfrm>
            <a:off x="7726680" y="1417320"/>
            <a:ext cx="64008" cy="4572000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inding_observation_label"/>
          <p:cNvSpPr txBox="1"/>
          <p:nvPr/>
        </p:nvSpPr>
        <p:spPr>
          <a:xfrm>
            <a:off x="8001000" y="1600200"/>
            <a:ext cx="3459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C5F7"/>
                </a:solidFill>
                <a:latin typeface="Aptos"/>
              </a:rPr>
              <a:t>WHAT WE FOUND</a:t>
            </a:r>
          </a:p>
        </p:txBody>
      </p:sp>
      <p:sp>
        <p:nvSpPr>
          <p:cNvPr id="62" name="finding_observation"/>
          <p:cNvSpPr txBox="1"/>
          <p:nvPr/>
        </p:nvSpPr>
        <p:spPr>
          <a:xfrm>
            <a:off x="8001000" y="1892808"/>
            <a:ext cx="345917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9FF"/>
                </a:solidFill>
                <a:latin typeface="Aptos"/>
              </a:rPr>
              <a:t>[What we found]</a:t>
            </a:r>
          </a:p>
        </p:txBody>
      </p:sp>
      <p:sp>
        <p:nvSpPr>
          <p:cNvPr id="63" name="finding_implication_label"/>
          <p:cNvSpPr txBox="1"/>
          <p:nvPr/>
        </p:nvSpPr>
        <p:spPr>
          <a:xfrm>
            <a:off x="8001000" y="3063240"/>
            <a:ext cx="3459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C5F7"/>
                </a:solidFill>
                <a:latin typeface="Aptos"/>
              </a:rPr>
              <a:t>WHY IT MATTERS</a:t>
            </a:r>
          </a:p>
        </p:txBody>
      </p:sp>
      <p:sp>
        <p:nvSpPr>
          <p:cNvPr id="64" name="finding_implication"/>
          <p:cNvSpPr txBox="1"/>
          <p:nvPr/>
        </p:nvSpPr>
        <p:spPr>
          <a:xfrm>
            <a:off x="8001000" y="3355848"/>
            <a:ext cx="345917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9FF"/>
                </a:solidFill>
                <a:latin typeface="Aptos"/>
              </a:rPr>
              <a:t>[Why it matters]</a:t>
            </a:r>
          </a:p>
        </p:txBody>
      </p:sp>
      <p:sp>
        <p:nvSpPr>
          <p:cNvPr id="65" name="finding_investigation_label"/>
          <p:cNvSpPr txBox="1"/>
          <p:nvPr/>
        </p:nvSpPr>
        <p:spPr>
          <a:xfrm>
            <a:off x="8001000" y="4526280"/>
            <a:ext cx="3459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C5F7"/>
                </a:solidFill>
                <a:latin typeface="Aptos"/>
              </a:rPr>
              <a:t>NEXT STEP</a:t>
            </a:r>
          </a:p>
        </p:txBody>
      </p:sp>
      <p:sp>
        <p:nvSpPr>
          <p:cNvPr id="66" name="finding_investigation"/>
          <p:cNvSpPr txBox="1"/>
          <p:nvPr/>
        </p:nvSpPr>
        <p:spPr>
          <a:xfrm>
            <a:off x="8001000" y="4818888"/>
            <a:ext cx="345917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9FF"/>
                </a:solidFill>
                <a:latin typeface="Aptos"/>
              </a:rPr>
              <a:t>[Next step]</a:t>
            </a:r>
          </a:p>
        </p:txBody>
      </p:sp>
      <p:sp>
        <p:nvSpPr>
          <p:cNvPr id="67" name="finding_caveat"/>
          <p:cNvSpPr txBox="1"/>
          <p:nvPr/>
        </p:nvSpPr>
        <p:spPr>
          <a:xfrm>
            <a:off x="548640" y="5212080"/>
            <a:ext cx="6812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C4D7"/>
                </a:solidFill>
                <a:latin typeface="Aptos"/>
              </a:rPr>
              <a:t>[Check-in context, status age, confidence]</a:t>
            </a:r>
          </a:p>
        </p:txBody>
      </p:sp>
      <p:sp>
        <p:nvSpPr>
          <p:cNvPr id="68" name="page_number"/>
          <p:cNvSpPr txBox="1"/>
          <p:nvPr/>
        </p:nvSpPr>
        <p:spPr>
          <a:xfrm>
            <a:off x="548640" y="6419088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C5F7"/>
                </a:solidFill>
                <a:latin typeface="Aptos"/>
              </a:rPr>
              <a:t>00</a:t>
            </a:r>
          </a:p>
        </p:txBody>
      </p:sp>
      <p:sp>
        <p:nvSpPr>
          <p:cNvPr id="69" name="source_footer"/>
          <p:cNvSpPr txBox="1"/>
          <p:nvPr/>
        </p:nvSpPr>
        <p:spPr>
          <a:xfrm>
            <a:off x="1005840" y="6419088"/>
            <a:ext cx="7863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B9C4D7"/>
                </a:solidFill>
                <a:latin typeface="Aptos"/>
              </a:rPr>
              <a:t>[Source]  |  [Data collected: UTC]  |  [Scope]</a:t>
            </a:r>
          </a:p>
        </p:txBody>
      </p:sp>
      <p:sp>
        <p:nvSpPr>
          <p:cNvPr id="70" name="brand_footer"/>
          <p:cNvSpPr txBox="1"/>
          <p:nvPr/>
        </p:nvSpPr>
        <p:spPr>
          <a:xfrm>
            <a:off x="8716975" y="6419088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C4D7"/>
                </a:solidFill>
                <a:latin typeface="Aptos"/>
              </a:rPr>
              <a:t>POWERSTACKS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rt_line"/>
          <p:cNvCxnSpPr/>
          <p:nvPr/>
        </p:nvCxnSpPr>
        <p:spPr>
          <a:xfrm flipH="1" flipV="1">
            <a:off x="10082636" y="4816129"/>
            <a:ext cx="344319" cy="35089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art_line"/>
          <p:cNvCxnSpPr/>
          <p:nvPr/>
        </p:nvCxnSpPr>
        <p:spPr>
          <a:xfrm flipH="1" flipV="1">
            <a:off x="10101307" y="4246150"/>
            <a:ext cx="325648" cy="92087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rt_line"/>
          <p:cNvCxnSpPr/>
          <p:nvPr/>
        </p:nvCxnSpPr>
        <p:spPr>
          <a:xfrm flipH="1" flipV="1">
            <a:off x="10908374" y="6157523"/>
            <a:ext cx="227528" cy="11041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rt_line"/>
          <p:cNvCxnSpPr/>
          <p:nvPr/>
        </p:nvCxnSpPr>
        <p:spPr>
          <a:xfrm flipH="1">
            <a:off x="10705693" y="6267939"/>
            <a:ext cx="430209" cy="13229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art_line"/>
          <p:cNvCxnSpPr/>
          <p:nvPr/>
        </p:nvCxnSpPr>
        <p:spPr>
          <a:xfrm flipH="1">
            <a:off x="10705693" y="6157523"/>
            <a:ext cx="202681" cy="24271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t_line"/>
          <p:cNvCxnSpPr/>
          <p:nvPr/>
        </p:nvCxnSpPr>
        <p:spPr>
          <a:xfrm flipH="1">
            <a:off x="7877760" y="3651872"/>
            <a:ext cx="105430" cy="116482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t_line"/>
          <p:cNvCxnSpPr/>
          <p:nvPr/>
        </p:nvCxnSpPr>
        <p:spPr>
          <a:xfrm>
            <a:off x="7983190" y="3651872"/>
            <a:ext cx="1120682" cy="75431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t_line"/>
          <p:cNvCxnSpPr/>
          <p:nvPr/>
        </p:nvCxnSpPr>
        <p:spPr>
          <a:xfrm>
            <a:off x="11745564" y="4657813"/>
            <a:ext cx="160742" cy="122584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t_line"/>
          <p:cNvCxnSpPr/>
          <p:nvPr/>
        </p:nvCxnSpPr>
        <p:spPr>
          <a:xfrm flipH="1">
            <a:off x="11143940" y="1718373"/>
            <a:ext cx="426925" cy="14024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t_line"/>
          <p:cNvCxnSpPr/>
          <p:nvPr/>
        </p:nvCxnSpPr>
        <p:spPr>
          <a:xfrm flipH="1">
            <a:off x="11014647" y="1718373"/>
            <a:ext cx="556218" cy="25455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t_line"/>
          <p:cNvCxnSpPr/>
          <p:nvPr/>
        </p:nvCxnSpPr>
        <p:spPr>
          <a:xfrm flipH="1" flipV="1">
            <a:off x="9350064" y="2007781"/>
            <a:ext cx="443901" cy="44229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t_line"/>
          <p:cNvCxnSpPr/>
          <p:nvPr/>
        </p:nvCxnSpPr>
        <p:spPr>
          <a:xfrm flipH="1">
            <a:off x="9254218" y="2450077"/>
            <a:ext cx="539747" cy="34775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t_line"/>
          <p:cNvCxnSpPr/>
          <p:nvPr/>
        </p:nvCxnSpPr>
        <p:spPr>
          <a:xfrm flipH="1">
            <a:off x="10082636" y="4246150"/>
            <a:ext cx="18671" cy="56997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t_line"/>
          <p:cNvCxnSpPr/>
          <p:nvPr/>
        </p:nvCxnSpPr>
        <p:spPr>
          <a:xfrm flipV="1">
            <a:off x="7917802" y="2279495"/>
            <a:ext cx="807909" cy="685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t_line"/>
          <p:cNvCxnSpPr/>
          <p:nvPr/>
        </p:nvCxnSpPr>
        <p:spPr>
          <a:xfrm flipV="1">
            <a:off x="7917802" y="1454662"/>
            <a:ext cx="545572" cy="83168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t_line"/>
          <p:cNvCxnSpPr/>
          <p:nvPr/>
        </p:nvCxnSpPr>
        <p:spPr>
          <a:xfrm>
            <a:off x="9013854" y="6124717"/>
            <a:ext cx="40418" cy="24761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t_line"/>
          <p:cNvCxnSpPr/>
          <p:nvPr/>
        </p:nvCxnSpPr>
        <p:spPr>
          <a:xfrm flipH="1">
            <a:off x="8706466" y="6124717"/>
            <a:ext cx="307388" cy="13513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t_line"/>
          <p:cNvCxnSpPr/>
          <p:nvPr/>
        </p:nvCxnSpPr>
        <p:spPr>
          <a:xfrm flipV="1">
            <a:off x="11014647" y="1858613"/>
            <a:ext cx="129293" cy="11431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t_line"/>
          <p:cNvCxnSpPr/>
          <p:nvPr/>
        </p:nvCxnSpPr>
        <p:spPr>
          <a:xfrm>
            <a:off x="7871143" y="5878154"/>
            <a:ext cx="835323" cy="38169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t_line"/>
          <p:cNvCxnSpPr/>
          <p:nvPr/>
        </p:nvCxnSpPr>
        <p:spPr>
          <a:xfrm flipV="1">
            <a:off x="7871143" y="4816698"/>
            <a:ext cx="6617" cy="106145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t_line"/>
          <p:cNvCxnSpPr/>
          <p:nvPr/>
        </p:nvCxnSpPr>
        <p:spPr>
          <a:xfrm flipV="1">
            <a:off x="8725711" y="2007781"/>
            <a:ext cx="624353" cy="27171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t_line"/>
          <p:cNvCxnSpPr/>
          <p:nvPr/>
        </p:nvCxnSpPr>
        <p:spPr>
          <a:xfrm>
            <a:off x="8725711" y="2279495"/>
            <a:ext cx="528507" cy="51833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t_line"/>
          <p:cNvCxnSpPr/>
          <p:nvPr/>
        </p:nvCxnSpPr>
        <p:spPr>
          <a:xfrm flipH="1" flipV="1">
            <a:off x="8706466" y="6259850"/>
            <a:ext cx="347806" cy="11248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t_dot"/>
          <p:cNvSpPr/>
          <p:nvPr/>
        </p:nvSpPr>
        <p:spPr>
          <a:xfrm>
            <a:off x="10337988" y="5078052"/>
            <a:ext cx="177935" cy="17793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t_dot"/>
          <p:cNvSpPr/>
          <p:nvPr/>
        </p:nvSpPr>
        <p:spPr>
          <a:xfrm>
            <a:off x="11068554" y="6200591"/>
            <a:ext cx="134695" cy="13469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t_dot"/>
          <p:cNvSpPr/>
          <p:nvPr/>
        </p:nvSpPr>
        <p:spPr>
          <a:xfrm>
            <a:off x="10851585" y="6100734"/>
            <a:ext cx="113578" cy="11357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t_dot"/>
          <p:cNvSpPr/>
          <p:nvPr/>
        </p:nvSpPr>
        <p:spPr>
          <a:xfrm>
            <a:off x="7915812" y="3584494"/>
            <a:ext cx="134755" cy="13475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t_dot"/>
          <p:cNvSpPr/>
          <p:nvPr/>
        </p:nvSpPr>
        <p:spPr>
          <a:xfrm>
            <a:off x="11663883" y="4576133"/>
            <a:ext cx="163360" cy="16336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t_dot"/>
          <p:cNvSpPr/>
          <p:nvPr/>
        </p:nvSpPr>
        <p:spPr>
          <a:xfrm>
            <a:off x="11530640" y="1678148"/>
            <a:ext cx="80449" cy="8044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t_dot"/>
          <p:cNvSpPr/>
          <p:nvPr/>
        </p:nvSpPr>
        <p:spPr>
          <a:xfrm>
            <a:off x="9694975" y="2351087"/>
            <a:ext cx="197980" cy="19798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t_dot"/>
          <p:cNvSpPr/>
          <p:nvPr/>
        </p:nvSpPr>
        <p:spPr>
          <a:xfrm>
            <a:off x="10063267" y="4208111"/>
            <a:ext cx="76079" cy="7607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dot"/>
          <p:cNvSpPr/>
          <p:nvPr/>
        </p:nvSpPr>
        <p:spPr>
          <a:xfrm>
            <a:off x="7833233" y="2201777"/>
            <a:ext cx="169137" cy="16913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t_dot"/>
          <p:cNvSpPr/>
          <p:nvPr/>
        </p:nvSpPr>
        <p:spPr>
          <a:xfrm>
            <a:off x="8923198" y="6034062"/>
            <a:ext cx="181310" cy="18131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dot"/>
          <p:cNvSpPr/>
          <p:nvPr/>
        </p:nvSpPr>
        <p:spPr>
          <a:xfrm>
            <a:off x="10976914" y="1935200"/>
            <a:ext cx="75464" cy="7546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t_dot"/>
          <p:cNvSpPr/>
          <p:nvPr/>
        </p:nvSpPr>
        <p:spPr>
          <a:xfrm>
            <a:off x="11056942" y="1771616"/>
            <a:ext cx="173995" cy="17399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dot"/>
          <p:cNvSpPr/>
          <p:nvPr/>
        </p:nvSpPr>
        <p:spPr>
          <a:xfrm>
            <a:off x="10344518" y="1732387"/>
            <a:ext cx="120029" cy="12002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_dot"/>
          <p:cNvSpPr/>
          <p:nvPr/>
        </p:nvSpPr>
        <p:spPr>
          <a:xfrm>
            <a:off x="7797537" y="5804549"/>
            <a:ext cx="147211" cy="14721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dot"/>
          <p:cNvSpPr/>
          <p:nvPr/>
        </p:nvSpPr>
        <p:spPr>
          <a:xfrm>
            <a:off x="8688554" y="2242338"/>
            <a:ext cx="74314" cy="7431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t_dot"/>
          <p:cNvSpPr/>
          <p:nvPr/>
        </p:nvSpPr>
        <p:spPr>
          <a:xfrm>
            <a:off x="11866739" y="5844091"/>
            <a:ext cx="79133" cy="7913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dot"/>
          <p:cNvSpPr/>
          <p:nvPr/>
        </p:nvSpPr>
        <p:spPr>
          <a:xfrm>
            <a:off x="9006116" y="6324176"/>
            <a:ext cx="96312" cy="9631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rt_dot"/>
          <p:cNvSpPr/>
          <p:nvPr/>
        </p:nvSpPr>
        <p:spPr>
          <a:xfrm>
            <a:off x="9984921" y="4718413"/>
            <a:ext cx="195430" cy="19543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dot"/>
          <p:cNvSpPr/>
          <p:nvPr/>
        </p:nvSpPr>
        <p:spPr>
          <a:xfrm>
            <a:off x="8657311" y="6210695"/>
            <a:ext cx="98309" cy="9830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rt_dot"/>
          <p:cNvSpPr/>
          <p:nvPr/>
        </p:nvSpPr>
        <p:spPr>
          <a:xfrm>
            <a:off x="10620744" y="6315289"/>
            <a:ext cx="169898" cy="16989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t_dot"/>
          <p:cNvSpPr/>
          <p:nvPr/>
        </p:nvSpPr>
        <p:spPr>
          <a:xfrm>
            <a:off x="11445326" y="2640474"/>
            <a:ext cx="192162" cy="19216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t_dot"/>
          <p:cNvSpPr/>
          <p:nvPr/>
        </p:nvSpPr>
        <p:spPr>
          <a:xfrm>
            <a:off x="9253190" y="1910906"/>
            <a:ext cx="193748" cy="19374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t_dot"/>
          <p:cNvSpPr/>
          <p:nvPr/>
        </p:nvSpPr>
        <p:spPr>
          <a:xfrm>
            <a:off x="8404755" y="1396043"/>
            <a:ext cx="117238" cy="11723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t_dot"/>
          <p:cNvSpPr/>
          <p:nvPr/>
        </p:nvSpPr>
        <p:spPr>
          <a:xfrm>
            <a:off x="9044586" y="4346897"/>
            <a:ext cx="118571" cy="11857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t_dot"/>
          <p:cNvSpPr/>
          <p:nvPr/>
        </p:nvSpPr>
        <p:spPr>
          <a:xfrm>
            <a:off x="7807599" y="4746537"/>
            <a:ext cx="140322" cy="14032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rt_dot"/>
          <p:cNvSpPr/>
          <p:nvPr/>
        </p:nvSpPr>
        <p:spPr>
          <a:xfrm>
            <a:off x="9167997" y="2711612"/>
            <a:ext cx="172441" cy="17244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ar_to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2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itle_bar"/>
          <p:cNvSpPr/>
          <p:nvPr/>
        </p:nvSpPr>
        <p:spPr>
          <a:xfrm>
            <a:off x="0" y="109728"/>
            <a:ext cx="12191695" cy="713232"/>
          </a:xfrm>
          <a:prstGeom prst="rect">
            <a:avLst/>
          </a:prstGeom>
          <a:solidFill>
            <a:srgbClr val="212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r_accent"/>
          <p:cNvSpPr/>
          <p:nvPr/>
        </p:nvSpPr>
        <p:spPr>
          <a:xfrm>
            <a:off x="0" y="109728"/>
            <a:ext cx="109728" cy="713232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logo" descr="powerstack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"/>
            <a:ext cx="1097280" cy="548640"/>
          </a:xfrm>
          <a:prstGeom prst="rect">
            <a:avLst/>
          </a:prstGeom>
        </p:spPr>
      </p:pic>
      <p:sp>
        <p:nvSpPr>
          <p:cNvPr id="55" name="slide_title"/>
          <p:cNvSpPr txBox="1"/>
          <p:nvPr/>
        </p:nvSpPr>
        <p:spPr>
          <a:xfrm>
            <a:off x="1737360" y="109728"/>
            <a:ext cx="99056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9FF"/>
                </a:solidFill>
                <a:latin typeface="Aptos"/>
              </a:rPr>
              <a:t>[SLIDE TITLE]</a:t>
            </a:r>
          </a:p>
        </p:txBody>
      </p:sp>
      <p:sp>
        <p:nvSpPr>
          <p:cNvPr id="56" name="chart_placeholder"/>
          <p:cNvSpPr/>
          <p:nvPr/>
        </p:nvSpPr>
        <p:spPr>
          <a:xfrm>
            <a:off x="548640" y="1508760"/>
            <a:ext cx="7315200" cy="365760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B9C4D7"/>
                </a:solidFill>
                <a:latin typeface="Aptos"/>
              </a:rPr>
              <a:t>[Breakdown chart]</a:t>
            </a:r>
          </a:p>
        </p:txBody>
      </p:sp>
      <p:sp>
        <p:nvSpPr>
          <p:cNvPr id="57" name="breakdown_card"/>
          <p:cNvSpPr/>
          <p:nvPr/>
        </p:nvSpPr>
        <p:spPr>
          <a:xfrm>
            <a:off x="8183880" y="1508760"/>
            <a:ext cx="3459175" cy="365760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reakdown_stripe"/>
          <p:cNvSpPr/>
          <p:nvPr/>
        </p:nvSpPr>
        <p:spPr>
          <a:xfrm>
            <a:off x="8183880" y="1508760"/>
            <a:ext cx="64008" cy="3657600"/>
          </a:xfrm>
          <a:prstGeom prst="rect">
            <a:avLst/>
          </a:prstGeom>
          <a:solidFill>
            <a:srgbClr val="6EC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reakdown_summary"/>
          <p:cNvSpPr txBox="1"/>
          <p:nvPr/>
        </p:nvSpPr>
        <p:spPr>
          <a:xfrm>
            <a:off x="8458200" y="1737360"/>
            <a:ext cx="300197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9FF"/>
                </a:solidFill>
                <a:latin typeface="Aptos"/>
              </a:rPr>
              <a:t>[Key observation]</a:t>
            </a:r>
          </a:p>
        </p:txBody>
      </p:sp>
      <p:sp>
        <p:nvSpPr>
          <p:cNvPr id="60" name="breakdown_context"/>
          <p:cNvSpPr txBox="1"/>
          <p:nvPr/>
        </p:nvSpPr>
        <p:spPr>
          <a:xfrm>
            <a:off x="8458200" y="3474720"/>
            <a:ext cx="30019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9C4D7"/>
                </a:solidFill>
                <a:latin typeface="Aptos"/>
              </a:rPr>
              <a:t>[Denominator and overlap context]</a:t>
            </a:r>
          </a:p>
        </p:txBody>
      </p:sp>
      <p:sp>
        <p:nvSpPr>
          <p:cNvPr id="61" name="breakdown_scope"/>
          <p:cNvSpPr txBox="1"/>
          <p:nvPr/>
        </p:nvSpPr>
        <p:spPr>
          <a:xfrm>
            <a:off x="548640" y="53492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C4D7"/>
                </a:solidFill>
                <a:latin typeface="Aptos"/>
              </a:rPr>
              <a:t>[Category definitions and scope]</a:t>
            </a:r>
          </a:p>
        </p:txBody>
      </p:sp>
      <p:sp>
        <p:nvSpPr>
          <p:cNvPr id="62" name="page_number"/>
          <p:cNvSpPr txBox="1"/>
          <p:nvPr/>
        </p:nvSpPr>
        <p:spPr>
          <a:xfrm>
            <a:off x="548640" y="6419088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C5F7"/>
                </a:solidFill>
                <a:latin typeface="Aptos"/>
              </a:rPr>
              <a:t>00</a:t>
            </a:r>
          </a:p>
        </p:txBody>
      </p:sp>
      <p:sp>
        <p:nvSpPr>
          <p:cNvPr id="63" name="source_footer"/>
          <p:cNvSpPr txBox="1"/>
          <p:nvPr/>
        </p:nvSpPr>
        <p:spPr>
          <a:xfrm>
            <a:off x="1005840" y="6419088"/>
            <a:ext cx="7863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B9C4D7"/>
                </a:solidFill>
                <a:latin typeface="Aptos"/>
              </a:rPr>
              <a:t>[Source]  |  [Data collected: UTC]  |  [Scope]</a:t>
            </a:r>
          </a:p>
        </p:txBody>
      </p:sp>
      <p:sp>
        <p:nvSpPr>
          <p:cNvPr id="64" name="brand_footer"/>
          <p:cNvSpPr txBox="1"/>
          <p:nvPr/>
        </p:nvSpPr>
        <p:spPr>
          <a:xfrm>
            <a:off x="8716975" y="6419088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C4D7"/>
                </a:solidFill>
                <a:latin typeface="Aptos"/>
              </a:rPr>
              <a:t>POWERSTACKS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rt_line"/>
          <p:cNvCxnSpPr/>
          <p:nvPr/>
        </p:nvCxnSpPr>
        <p:spPr>
          <a:xfrm flipV="1">
            <a:off x="11128275" y="4859248"/>
            <a:ext cx="41252" cy="74760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art_line"/>
          <p:cNvCxnSpPr/>
          <p:nvPr/>
        </p:nvCxnSpPr>
        <p:spPr>
          <a:xfrm>
            <a:off x="11128275" y="5606848"/>
            <a:ext cx="50056" cy="84721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rt_line"/>
          <p:cNvCxnSpPr/>
          <p:nvPr/>
        </p:nvCxnSpPr>
        <p:spPr>
          <a:xfrm>
            <a:off x="9859660" y="2532640"/>
            <a:ext cx="480249" cy="23428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rt_line"/>
          <p:cNvCxnSpPr/>
          <p:nvPr/>
        </p:nvCxnSpPr>
        <p:spPr>
          <a:xfrm>
            <a:off x="9859660" y="2532640"/>
            <a:ext cx="616744" cy="16218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art_line"/>
          <p:cNvCxnSpPr/>
          <p:nvPr/>
        </p:nvCxnSpPr>
        <p:spPr>
          <a:xfrm flipV="1">
            <a:off x="7865698" y="4693088"/>
            <a:ext cx="824699" cy="4067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t_line"/>
          <p:cNvCxnSpPr/>
          <p:nvPr/>
        </p:nvCxnSpPr>
        <p:spPr>
          <a:xfrm>
            <a:off x="7865698" y="4733767"/>
            <a:ext cx="381372" cy="75418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t_line"/>
          <p:cNvCxnSpPr/>
          <p:nvPr/>
        </p:nvCxnSpPr>
        <p:spPr>
          <a:xfrm flipH="1">
            <a:off x="9399320" y="5265466"/>
            <a:ext cx="399522" cy="5710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t_line"/>
          <p:cNvCxnSpPr/>
          <p:nvPr/>
        </p:nvCxnSpPr>
        <p:spPr>
          <a:xfrm flipV="1">
            <a:off x="9798842" y="4839288"/>
            <a:ext cx="280016" cy="42617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t_line"/>
          <p:cNvCxnSpPr/>
          <p:nvPr/>
        </p:nvCxnSpPr>
        <p:spPr>
          <a:xfrm flipH="1">
            <a:off x="8985938" y="5322575"/>
            <a:ext cx="413382" cy="17433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t_line"/>
          <p:cNvCxnSpPr/>
          <p:nvPr/>
        </p:nvCxnSpPr>
        <p:spPr>
          <a:xfrm flipH="1" flipV="1">
            <a:off x="8247070" y="5487951"/>
            <a:ext cx="738868" cy="895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t_line"/>
          <p:cNvCxnSpPr/>
          <p:nvPr/>
        </p:nvCxnSpPr>
        <p:spPr>
          <a:xfrm>
            <a:off x="10866923" y="3368684"/>
            <a:ext cx="308431" cy="17120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t_line"/>
          <p:cNvCxnSpPr/>
          <p:nvPr/>
        </p:nvCxnSpPr>
        <p:spPr>
          <a:xfrm flipV="1">
            <a:off x="10866923" y="2938417"/>
            <a:ext cx="470969" cy="43026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t_line"/>
          <p:cNvCxnSpPr/>
          <p:nvPr/>
        </p:nvCxnSpPr>
        <p:spPr>
          <a:xfrm>
            <a:off x="10078858" y="4839288"/>
            <a:ext cx="437266" cy="8700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t_line"/>
          <p:cNvCxnSpPr/>
          <p:nvPr/>
        </p:nvCxnSpPr>
        <p:spPr>
          <a:xfrm>
            <a:off x="8657934" y="4134634"/>
            <a:ext cx="32463" cy="55845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t_line"/>
          <p:cNvCxnSpPr/>
          <p:nvPr/>
        </p:nvCxnSpPr>
        <p:spPr>
          <a:xfrm>
            <a:off x="11176764" y="2554034"/>
            <a:ext cx="161128" cy="38438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t_line"/>
          <p:cNvCxnSpPr/>
          <p:nvPr/>
        </p:nvCxnSpPr>
        <p:spPr>
          <a:xfrm flipH="1">
            <a:off x="10476404" y="2554034"/>
            <a:ext cx="700360" cy="14079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t_line"/>
          <p:cNvCxnSpPr/>
          <p:nvPr/>
        </p:nvCxnSpPr>
        <p:spPr>
          <a:xfrm flipH="1">
            <a:off x="10516124" y="4859248"/>
            <a:ext cx="653403" cy="6704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t_line"/>
          <p:cNvCxnSpPr/>
          <p:nvPr/>
        </p:nvCxnSpPr>
        <p:spPr>
          <a:xfrm flipH="1">
            <a:off x="11175354" y="2938417"/>
            <a:ext cx="162538" cy="60147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t_line"/>
          <p:cNvCxnSpPr/>
          <p:nvPr/>
        </p:nvCxnSpPr>
        <p:spPr>
          <a:xfrm>
            <a:off x="11175354" y="3539893"/>
            <a:ext cx="309834" cy="43919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t_line"/>
          <p:cNvCxnSpPr/>
          <p:nvPr/>
        </p:nvCxnSpPr>
        <p:spPr>
          <a:xfrm flipH="1">
            <a:off x="7980790" y="2178989"/>
            <a:ext cx="268937" cy="90094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t_line"/>
          <p:cNvCxnSpPr/>
          <p:nvPr/>
        </p:nvCxnSpPr>
        <p:spPr>
          <a:xfrm flipH="1">
            <a:off x="10339909" y="2694829"/>
            <a:ext cx="136495" cy="7209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t_line"/>
          <p:cNvCxnSpPr/>
          <p:nvPr/>
        </p:nvCxnSpPr>
        <p:spPr>
          <a:xfrm flipH="1" flipV="1">
            <a:off x="11606296" y="3920862"/>
            <a:ext cx="172253" cy="40554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t_line"/>
          <p:cNvCxnSpPr/>
          <p:nvPr/>
        </p:nvCxnSpPr>
        <p:spPr>
          <a:xfrm flipH="1" flipV="1">
            <a:off x="11485188" y="3979083"/>
            <a:ext cx="293361" cy="34732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rt_line"/>
          <p:cNvCxnSpPr/>
          <p:nvPr/>
        </p:nvCxnSpPr>
        <p:spPr>
          <a:xfrm flipH="1">
            <a:off x="11485188" y="3920862"/>
            <a:ext cx="121108" cy="5822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t_dot"/>
          <p:cNvSpPr/>
          <p:nvPr/>
        </p:nvSpPr>
        <p:spPr>
          <a:xfrm>
            <a:off x="11084222" y="5562794"/>
            <a:ext cx="88107" cy="8810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t_dot"/>
          <p:cNvSpPr/>
          <p:nvPr/>
        </p:nvSpPr>
        <p:spPr>
          <a:xfrm>
            <a:off x="9780663" y="2453643"/>
            <a:ext cx="157993" cy="15799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t_dot"/>
          <p:cNvSpPr/>
          <p:nvPr/>
        </p:nvSpPr>
        <p:spPr>
          <a:xfrm>
            <a:off x="7809134" y="4677203"/>
            <a:ext cx="113128" cy="11312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t_dot"/>
          <p:cNvSpPr/>
          <p:nvPr/>
        </p:nvSpPr>
        <p:spPr>
          <a:xfrm>
            <a:off x="9749706" y="5216330"/>
            <a:ext cx="98271" cy="9827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t_dot"/>
          <p:cNvSpPr/>
          <p:nvPr/>
        </p:nvSpPr>
        <p:spPr>
          <a:xfrm>
            <a:off x="9331780" y="5255035"/>
            <a:ext cx="135079" cy="13507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t_dot"/>
          <p:cNvSpPr/>
          <p:nvPr/>
        </p:nvSpPr>
        <p:spPr>
          <a:xfrm>
            <a:off x="8940522" y="5451493"/>
            <a:ext cx="90831" cy="9083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t_dot"/>
          <p:cNvSpPr/>
          <p:nvPr/>
        </p:nvSpPr>
        <p:spPr>
          <a:xfrm>
            <a:off x="10816912" y="3318674"/>
            <a:ext cx="100020" cy="10002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dot"/>
          <p:cNvSpPr/>
          <p:nvPr/>
        </p:nvSpPr>
        <p:spPr>
          <a:xfrm>
            <a:off x="9986880" y="4747311"/>
            <a:ext cx="183954" cy="18395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t_dot"/>
          <p:cNvSpPr/>
          <p:nvPr/>
        </p:nvSpPr>
        <p:spPr>
          <a:xfrm>
            <a:off x="8576666" y="4053366"/>
            <a:ext cx="162535" cy="16253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dot"/>
          <p:cNvSpPr/>
          <p:nvPr/>
        </p:nvSpPr>
        <p:spPr>
          <a:xfrm>
            <a:off x="11139386" y="2516657"/>
            <a:ext cx="74755" cy="7475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t_dot"/>
          <p:cNvSpPr/>
          <p:nvPr/>
        </p:nvSpPr>
        <p:spPr>
          <a:xfrm>
            <a:off x="11083149" y="4772871"/>
            <a:ext cx="172755" cy="17275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dot"/>
          <p:cNvSpPr/>
          <p:nvPr/>
        </p:nvSpPr>
        <p:spPr>
          <a:xfrm>
            <a:off x="11300225" y="2900749"/>
            <a:ext cx="75335" cy="7533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_dot"/>
          <p:cNvSpPr/>
          <p:nvPr/>
        </p:nvSpPr>
        <p:spPr>
          <a:xfrm>
            <a:off x="8189185" y="5430066"/>
            <a:ext cx="115770" cy="11577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dot"/>
          <p:cNvSpPr/>
          <p:nvPr/>
        </p:nvSpPr>
        <p:spPr>
          <a:xfrm>
            <a:off x="11080887" y="3445426"/>
            <a:ext cx="188934" cy="18893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t_dot"/>
          <p:cNvSpPr/>
          <p:nvPr/>
        </p:nvSpPr>
        <p:spPr>
          <a:xfrm>
            <a:off x="8173449" y="2102711"/>
            <a:ext cx="152555" cy="15255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dot"/>
          <p:cNvSpPr/>
          <p:nvPr/>
        </p:nvSpPr>
        <p:spPr>
          <a:xfrm>
            <a:off x="10420233" y="2638659"/>
            <a:ext cx="112340" cy="11234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rt_dot"/>
          <p:cNvSpPr/>
          <p:nvPr/>
        </p:nvSpPr>
        <p:spPr>
          <a:xfrm>
            <a:off x="11717816" y="4265676"/>
            <a:ext cx="121465" cy="12146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dot"/>
          <p:cNvSpPr/>
          <p:nvPr/>
        </p:nvSpPr>
        <p:spPr>
          <a:xfrm>
            <a:off x="8628911" y="4631602"/>
            <a:ext cx="122971" cy="12297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rt_dot"/>
          <p:cNvSpPr/>
          <p:nvPr/>
        </p:nvSpPr>
        <p:spPr>
          <a:xfrm>
            <a:off x="9302035" y="6169955"/>
            <a:ext cx="89388" cy="8938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t_dot"/>
          <p:cNvSpPr/>
          <p:nvPr/>
        </p:nvSpPr>
        <p:spPr>
          <a:xfrm>
            <a:off x="11505720" y="3820285"/>
            <a:ext cx="201152" cy="20115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t_dot"/>
          <p:cNvSpPr/>
          <p:nvPr/>
        </p:nvSpPr>
        <p:spPr>
          <a:xfrm>
            <a:off x="10476103" y="4886274"/>
            <a:ext cx="80042" cy="8004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t_dot"/>
          <p:cNvSpPr/>
          <p:nvPr/>
        </p:nvSpPr>
        <p:spPr>
          <a:xfrm>
            <a:off x="11114687" y="6390419"/>
            <a:ext cx="127288" cy="12728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t_dot"/>
          <p:cNvSpPr/>
          <p:nvPr/>
        </p:nvSpPr>
        <p:spPr>
          <a:xfrm>
            <a:off x="7896444" y="2995589"/>
            <a:ext cx="168692" cy="16869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t_dot"/>
          <p:cNvSpPr/>
          <p:nvPr/>
        </p:nvSpPr>
        <p:spPr>
          <a:xfrm>
            <a:off x="10277873" y="2704889"/>
            <a:ext cx="124072" cy="12407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rt_dot"/>
          <p:cNvSpPr/>
          <p:nvPr/>
        </p:nvSpPr>
        <p:spPr>
          <a:xfrm>
            <a:off x="10188736" y="1489975"/>
            <a:ext cx="198732" cy="19873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t_dot"/>
          <p:cNvSpPr/>
          <p:nvPr/>
        </p:nvSpPr>
        <p:spPr>
          <a:xfrm>
            <a:off x="11432910" y="3926806"/>
            <a:ext cx="104555" cy="10455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ar_to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2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itle_bar"/>
          <p:cNvSpPr/>
          <p:nvPr/>
        </p:nvSpPr>
        <p:spPr>
          <a:xfrm>
            <a:off x="0" y="109728"/>
            <a:ext cx="12191695" cy="713232"/>
          </a:xfrm>
          <a:prstGeom prst="rect">
            <a:avLst/>
          </a:prstGeom>
          <a:solidFill>
            <a:srgbClr val="212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ar_accent"/>
          <p:cNvSpPr/>
          <p:nvPr/>
        </p:nvSpPr>
        <p:spPr>
          <a:xfrm>
            <a:off x="0" y="109728"/>
            <a:ext cx="109728" cy="713232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ogo" descr="powerstack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"/>
            <a:ext cx="1097280" cy="548640"/>
          </a:xfrm>
          <a:prstGeom prst="rect">
            <a:avLst/>
          </a:prstGeom>
        </p:spPr>
      </p:pic>
      <p:sp>
        <p:nvSpPr>
          <p:cNvPr id="56" name="slide_title"/>
          <p:cNvSpPr txBox="1"/>
          <p:nvPr/>
        </p:nvSpPr>
        <p:spPr>
          <a:xfrm>
            <a:off x="1737360" y="109728"/>
            <a:ext cx="99056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9FF"/>
                </a:solidFill>
                <a:latin typeface="Aptos"/>
              </a:rPr>
              <a:t>[SLIDE TITLE]</a:t>
            </a:r>
          </a:p>
        </p:txBody>
      </p:sp>
      <p:graphicFrame>
        <p:nvGraphicFramePr>
          <p:cNvPr id="57" name="table"/>
          <p:cNvGraphicFramePr>
            <a:graphicFrameLocks noGrp="1"/>
          </p:cNvGraphicFramePr>
          <p:nvPr/>
        </p:nvGraphicFramePr>
        <p:xfrm>
          <a:off x="548640" y="1554480"/>
          <a:ext cx="11094415" cy="2377440"/>
        </p:xfrm>
        <a:graphic>
          <a:graphicData uri="http://schemas.openxmlformats.org/drawingml/2006/table">
            <a:tbl>
              <a:tblPr firstRow="0" bandRow="0"/>
              <a:tblGrid>
                <a:gridCol w="1996994"/>
                <a:gridCol w="5769095"/>
                <a:gridCol w="3328326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9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128016" marR="128016" anchor="ctr">
                    <a:solidFill>
                      <a:srgbClr val="2127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9FF"/>
                          </a:solidFill>
                          <a:latin typeface="Aptos"/>
                        </a:rPr>
                        <a:t>WHAT IT REPRESENTS</a:t>
                      </a:r>
                    </a:p>
                  </a:txBody>
                  <a:tcPr marL="128016" marR="128016" anchor="ctr">
                    <a:solidFill>
                      <a:srgbClr val="2127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8F9FF"/>
                          </a:solidFill>
                          <a:latin typeface="Aptos"/>
                        </a:rPr>
                        <a:t>AFFECTED DEVICES</a:t>
                      </a:r>
                    </a:p>
                  </a:txBody>
                  <a:tcPr marL="128016" marR="128016" anchor="ctr">
                    <a:solidFill>
                      <a:srgbClr val="21277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[Source-reported deadline]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[Count / scope]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[Source-reported deadline]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[Count / scope]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[Date]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[Source-reported deadline]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8F9FF"/>
                          </a:solidFill>
                          <a:latin typeface="Aptos"/>
                        </a:rPr>
                        <a:t>[Count / scope]</a:t>
                      </a:r>
                    </a:p>
                  </a:txBody>
                  <a:tcPr marL="128016" marR="128016" anchor="ctr">
                    <a:solidFill>
                      <a:srgbClr val="181D30"/>
                    </a:solidFill>
                  </a:tcPr>
                </a:tc>
              </a:tr>
            </a:tbl>
          </a:graphicData>
        </a:graphic>
      </p:graphicFrame>
      <p:sp>
        <p:nvSpPr>
          <p:cNvPr id="58" name="deadline_window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9C4D7"/>
                </a:solidFill>
                <a:latin typeface="Aptos"/>
              </a:rPr>
              <a:t>[Display window and next deadline beyond it]</a:t>
            </a:r>
          </a:p>
        </p:txBody>
      </p:sp>
      <p:sp>
        <p:nvSpPr>
          <p:cNvPr id="59" name="page_number"/>
          <p:cNvSpPr txBox="1"/>
          <p:nvPr/>
        </p:nvSpPr>
        <p:spPr>
          <a:xfrm>
            <a:off x="548640" y="6419088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C5F7"/>
                </a:solidFill>
                <a:latin typeface="Aptos"/>
              </a:rPr>
              <a:t>00</a:t>
            </a:r>
          </a:p>
        </p:txBody>
      </p:sp>
      <p:sp>
        <p:nvSpPr>
          <p:cNvPr id="60" name="source_footer"/>
          <p:cNvSpPr txBox="1"/>
          <p:nvPr/>
        </p:nvSpPr>
        <p:spPr>
          <a:xfrm>
            <a:off x="1005840" y="6419088"/>
            <a:ext cx="7863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B9C4D7"/>
                </a:solidFill>
                <a:latin typeface="Aptos"/>
              </a:rPr>
              <a:t>[Source]  |  [Data collected: UTC]  |  [Scope]</a:t>
            </a:r>
          </a:p>
        </p:txBody>
      </p:sp>
      <p:sp>
        <p:nvSpPr>
          <p:cNvPr id="61" name="brand_footer"/>
          <p:cNvSpPr txBox="1"/>
          <p:nvPr/>
        </p:nvSpPr>
        <p:spPr>
          <a:xfrm>
            <a:off x="8716975" y="6419088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C4D7"/>
                </a:solidFill>
                <a:latin typeface="Aptos"/>
              </a:rPr>
              <a:t>POWERSTACKS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rt_line"/>
          <p:cNvCxnSpPr/>
          <p:nvPr/>
        </p:nvCxnSpPr>
        <p:spPr>
          <a:xfrm flipH="1" flipV="1">
            <a:off x="8457420" y="1743535"/>
            <a:ext cx="738927" cy="18136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art_line"/>
          <p:cNvCxnSpPr/>
          <p:nvPr/>
        </p:nvCxnSpPr>
        <p:spPr>
          <a:xfrm flipH="1">
            <a:off x="8373260" y="1924898"/>
            <a:ext cx="823087" cy="39716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rt_line"/>
          <p:cNvCxnSpPr/>
          <p:nvPr/>
        </p:nvCxnSpPr>
        <p:spPr>
          <a:xfrm flipH="1" flipV="1">
            <a:off x="10117698" y="1441765"/>
            <a:ext cx="424607" cy="5292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rt_line"/>
          <p:cNvCxnSpPr/>
          <p:nvPr/>
        </p:nvCxnSpPr>
        <p:spPr>
          <a:xfrm>
            <a:off x="10542305" y="1494694"/>
            <a:ext cx="323056" cy="118232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art_line"/>
          <p:cNvCxnSpPr/>
          <p:nvPr/>
        </p:nvCxnSpPr>
        <p:spPr>
          <a:xfrm>
            <a:off x="10068887" y="3103595"/>
            <a:ext cx="169616" cy="17003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t_line"/>
          <p:cNvCxnSpPr/>
          <p:nvPr/>
        </p:nvCxnSpPr>
        <p:spPr>
          <a:xfrm>
            <a:off x="10068887" y="3103595"/>
            <a:ext cx="423954" cy="3680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t_line"/>
          <p:cNvCxnSpPr/>
          <p:nvPr/>
        </p:nvCxnSpPr>
        <p:spPr>
          <a:xfrm flipH="1" flipV="1">
            <a:off x="8018127" y="3476433"/>
            <a:ext cx="84366" cy="40484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t_line"/>
          <p:cNvCxnSpPr/>
          <p:nvPr/>
        </p:nvCxnSpPr>
        <p:spPr>
          <a:xfrm>
            <a:off x="8102493" y="3881275"/>
            <a:ext cx="504999" cy="40689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t_line"/>
          <p:cNvCxnSpPr/>
          <p:nvPr/>
        </p:nvCxnSpPr>
        <p:spPr>
          <a:xfrm>
            <a:off x="8018127" y="3476433"/>
            <a:ext cx="589365" cy="81173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t_line"/>
          <p:cNvCxnSpPr/>
          <p:nvPr/>
        </p:nvCxnSpPr>
        <p:spPr>
          <a:xfrm>
            <a:off x="8151281" y="1594967"/>
            <a:ext cx="306139" cy="14856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t_line"/>
          <p:cNvCxnSpPr/>
          <p:nvPr/>
        </p:nvCxnSpPr>
        <p:spPr>
          <a:xfrm flipH="1">
            <a:off x="8109086" y="1594967"/>
            <a:ext cx="42195" cy="63228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t_line"/>
          <p:cNvCxnSpPr/>
          <p:nvPr/>
        </p:nvCxnSpPr>
        <p:spPr>
          <a:xfrm flipH="1" flipV="1">
            <a:off x="9133181" y="5574875"/>
            <a:ext cx="477470" cy="5884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t_line"/>
          <p:cNvCxnSpPr/>
          <p:nvPr/>
        </p:nvCxnSpPr>
        <p:spPr>
          <a:xfrm>
            <a:off x="9610651" y="5633721"/>
            <a:ext cx="414267" cy="26491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t_line"/>
          <p:cNvCxnSpPr/>
          <p:nvPr/>
        </p:nvCxnSpPr>
        <p:spPr>
          <a:xfrm flipH="1" flipV="1">
            <a:off x="8109086" y="2227251"/>
            <a:ext cx="264174" cy="9480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t_line"/>
          <p:cNvCxnSpPr/>
          <p:nvPr/>
        </p:nvCxnSpPr>
        <p:spPr>
          <a:xfrm flipV="1">
            <a:off x="8373260" y="1743535"/>
            <a:ext cx="84160" cy="57852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t_line"/>
          <p:cNvCxnSpPr/>
          <p:nvPr/>
        </p:nvCxnSpPr>
        <p:spPr>
          <a:xfrm flipH="1" flipV="1">
            <a:off x="10024918" y="5898634"/>
            <a:ext cx="420684" cy="39815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t_line"/>
          <p:cNvCxnSpPr/>
          <p:nvPr/>
        </p:nvCxnSpPr>
        <p:spPr>
          <a:xfrm flipV="1">
            <a:off x="10238503" y="3140401"/>
            <a:ext cx="254338" cy="13322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t_line"/>
          <p:cNvCxnSpPr/>
          <p:nvPr/>
        </p:nvCxnSpPr>
        <p:spPr>
          <a:xfrm>
            <a:off x="11880934" y="1352851"/>
            <a:ext cx="16129" cy="39218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t_line"/>
          <p:cNvCxnSpPr/>
          <p:nvPr/>
        </p:nvCxnSpPr>
        <p:spPr>
          <a:xfrm flipH="1" flipV="1">
            <a:off x="10865361" y="2677021"/>
            <a:ext cx="530905" cy="917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t_line"/>
          <p:cNvCxnSpPr/>
          <p:nvPr/>
        </p:nvCxnSpPr>
        <p:spPr>
          <a:xfrm flipH="1">
            <a:off x="10492841" y="2686192"/>
            <a:ext cx="903425" cy="45420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t_line"/>
          <p:cNvCxnSpPr/>
          <p:nvPr/>
        </p:nvCxnSpPr>
        <p:spPr>
          <a:xfrm>
            <a:off x="9133181" y="5574875"/>
            <a:ext cx="891737" cy="32375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t_line"/>
          <p:cNvCxnSpPr/>
          <p:nvPr/>
        </p:nvCxnSpPr>
        <p:spPr>
          <a:xfrm flipV="1">
            <a:off x="8607492" y="4248798"/>
            <a:ext cx="260756" cy="3937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t_line"/>
          <p:cNvCxnSpPr/>
          <p:nvPr/>
        </p:nvCxnSpPr>
        <p:spPr>
          <a:xfrm>
            <a:off x="8607492" y="4288171"/>
            <a:ext cx="549000" cy="2173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rt_line"/>
          <p:cNvCxnSpPr/>
          <p:nvPr/>
        </p:nvCxnSpPr>
        <p:spPr>
          <a:xfrm>
            <a:off x="10492841" y="3140401"/>
            <a:ext cx="170708" cy="30282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rt_line"/>
          <p:cNvCxnSpPr/>
          <p:nvPr/>
        </p:nvCxnSpPr>
        <p:spPr>
          <a:xfrm flipH="1" flipV="1">
            <a:off x="8868248" y="4248798"/>
            <a:ext cx="288244" cy="6110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t_dot"/>
          <p:cNvSpPr/>
          <p:nvPr/>
        </p:nvSpPr>
        <p:spPr>
          <a:xfrm>
            <a:off x="9133007" y="1861559"/>
            <a:ext cx="126678" cy="12667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t_dot"/>
          <p:cNvSpPr/>
          <p:nvPr/>
        </p:nvSpPr>
        <p:spPr>
          <a:xfrm>
            <a:off x="10457266" y="1409655"/>
            <a:ext cx="170078" cy="17007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t_dot"/>
          <p:cNvSpPr/>
          <p:nvPr/>
        </p:nvSpPr>
        <p:spPr>
          <a:xfrm>
            <a:off x="10022583" y="3057291"/>
            <a:ext cx="92608" cy="9260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t_dot"/>
          <p:cNvSpPr/>
          <p:nvPr/>
        </p:nvSpPr>
        <p:spPr>
          <a:xfrm>
            <a:off x="8034620" y="3813401"/>
            <a:ext cx="135747" cy="13574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t_dot"/>
          <p:cNvSpPr/>
          <p:nvPr/>
        </p:nvSpPr>
        <p:spPr>
          <a:xfrm>
            <a:off x="7979041" y="3437348"/>
            <a:ext cx="78171" cy="7817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t_dot"/>
          <p:cNvSpPr/>
          <p:nvPr/>
        </p:nvSpPr>
        <p:spPr>
          <a:xfrm>
            <a:off x="8071933" y="1515620"/>
            <a:ext cx="158694" cy="15869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dot"/>
          <p:cNvSpPr/>
          <p:nvPr/>
        </p:nvSpPr>
        <p:spPr>
          <a:xfrm>
            <a:off x="9525136" y="5548206"/>
            <a:ext cx="171029" cy="17102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t_dot"/>
          <p:cNvSpPr/>
          <p:nvPr/>
        </p:nvSpPr>
        <p:spPr>
          <a:xfrm>
            <a:off x="8300006" y="2248804"/>
            <a:ext cx="146508" cy="14650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dot"/>
          <p:cNvSpPr/>
          <p:nvPr/>
        </p:nvSpPr>
        <p:spPr>
          <a:xfrm>
            <a:off x="10352988" y="6204176"/>
            <a:ext cx="185227" cy="18522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t_dot"/>
          <p:cNvSpPr/>
          <p:nvPr/>
        </p:nvSpPr>
        <p:spPr>
          <a:xfrm>
            <a:off x="10181844" y="3216969"/>
            <a:ext cx="113316" cy="11331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dot"/>
          <p:cNvSpPr/>
          <p:nvPr/>
        </p:nvSpPr>
        <p:spPr>
          <a:xfrm>
            <a:off x="11799854" y="1271770"/>
            <a:ext cx="162160" cy="16216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_dot"/>
          <p:cNvSpPr/>
          <p:nvPr/>
        </p:nvSpPr>
        <p:spPr>
          <a:xfrm>
            <a:off x="11321645" y="2611571"/>
            <a:ext cx="149240" cy="14924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dot"/>
          <p:cNvSpPr/>
          <p:nvPr/>
        </p:nvSpPr>
        <p:spPr>
          <a:xfrm>
            <a:off x="8383726" y="1669841"/>
            <a:ext cx="147387" cy="14738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t_dot"/>
          <p:cNvSpPr/>
          <p:nvPr/>
        </p:nvSpPr>
        <p:spPr>
          <a:xfrm>
            <a:off x="9067404" y="5509098"/>
            <a:ext cx="131553" cy="13155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dot"/>
          <p:cNvSpPr/>
          <p:nvPr/>
        </p:nvSpPr>
        <p:spPr>
          <a:xfrm>
            <a:off x="8517152" y="4197830"/>
            <a:ext cx="180681" cy="18068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rt_dot"/>
          <p:cNvSpPr/>
          <p:nvPr/>
        </p:nvSpPr>
        <p:spPr>
          <a:xfrm>
            <a:off x="10395797" y="3043358"/>
            <a:ext cx="194086" cy="19408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dot"/>
          <p:cNvSpPr/>
          <p:nvPr/>
        </p:nvSpPr>
        <p:spPr>
          <a:xfrm>
            <a:off x="10050776" y="1374843"/>
            <a:ext cx="133844" cy="13384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rt_dot"/>
          <p:cNvSpPr/>
          <p:nvPr/>
        </p:nvSpPr>
        <p:spPr>
          <a:xfrm>
            <a:off x="8029999" y="2148164"/>
            <a:ext cx="158174" cy="15817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t_dot"/>
          <p:cNvSpPr/>
          <p:nvPr/>
        </p:nvSpPr>
        <p:spPr>
          <a:xfrm>
            <a:off x="10623090" y="3402763"/>
            <a:ext cx="80918" cy="8091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t_dot"/>
          <p:cNvSpPr/>
          <p:nvPr/>
        </p:nvSpPr>
        <p:spPr>
          <a:xfrm>
            <a:off x="9075015" y="4228429"/>
            <a:ext cx="162954" cy="16295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t_dot"/>
          <p:cNvSpPr/>
          <p:nvPr/>
        </p:nvSpPr>
        <p:spPr>
          <a:xfrm>
            <a:off x="9650605" y="2663924"/>
            <a:ext cx="155994" cy="15599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t_dot"/>
          <p:cNvSpPr/>
          <p:nvPr/>
        </p:nvSpPr>
        <p:spPr>
          <a:xfrm>
            <a:off x="11032410" y="4832100"/>
            <a:ext cx="200284" cy="20028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t_dot"/>
          <p:cNvSpPr/>
          <p:nvPr/>
        </p:nvSpPr>
        <p:spPr>
          <a:xfrm>
            <a:off x="8779062" y="4159612"/>
            <a:ext cx="178371" cy="17837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rt_dot"/>
          <p:cNvSpPr/>
          <p:nvPr/>
        </p:nvSpPr>
        <p:spPr>
          <a:xfrm>
            <a:off x="9970126" y="5843841"/>
            <a:ext cx="109584" cy="10958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t_dot"/>
          <p:cNvSpPr/>
          <p:nvPr/>
        </p:nvSpPr>
        <p:spPr>
          <a:xfrm>
            <a:off x="10804091" y="2615752"/>
            <a:ext cx="122539" cy="12253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rt_dot"/>
          <p:cNvSpPr/>
          <p:nvPr/>
        </p:nvSpPr>
        <p:spPr>
          <a:xfrm>
            <a:off x="11817688" y="1665660"/>
            <a:ext cx="158750" cy="15875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r_to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2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itle_bar"/>
          <p:cNvSpPr/>
          <p:nvPr/>
        </p:nvSpPr>
        <p:spPr>
          <a:xfrm>
            <a:off x="0" y="109728"/>
            <a:ext cx="12191695" cy="713232"/>
          </a:xfrm>
          <a:prstGeom prst="rect">
            <a:avLst/>
          </a:prstGeom>
          <a:solidFill>
            <a:srgbClr val="212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ar_accent"/>
          <p:cNvSpPr/>
          <p:nvPr/>
        </p:nvSpPr>
        <p:spPr>
          <a:xfrm>
            <a:off x="0" y="109728"/>
            <a:ext cx="109728" cy="713232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ogo" descr="powerstack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"/>
            <a:ext cx="1097280" cy="548640"/>
          </a:xfrm>
          <a:prstGeom prst="rect">
            <a:avLst/>
          </a:prstGeom>
        </p:spPr>
      </p:pic>
      <p:sp>
        <p:nvSpPr>
          <p:cNvPr id="57" name="slide_title"/>
          <p:cNvSpPr txBox="1"/>
          <p:nvPr/>
        </p:nvSpPr>
        <p:spPr>
          <a:xfrm>
            <a:off x="1737360" y="109728"/>
            <a:ext cx="99056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9FF"/>
                </a:solidFill>
                <a:latin typeface="Aptos"/>
              </a:rPr>
              <a:t>[SLIDE TITLE]</a:t>
            </a:r>
          </a:p>
        </p:txBody>
      </p:sp>
      <p:sp>
        <p:nvSpPr>
          <p:cNvPr id="58" name="note_card_0"/>
          <p:cNvSpPr/>
          <p:nvPr/>
        </p:nvSpPr>
        <p:spPr>
          <a:xfrm>
            <a:off x="548640" y="155448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ote_stripe_0"/>
          <p:cNvSpPr/>
          <p:nvPr/>
        </p:nvSpPr>
        <p:spPr>
          <a:xfrm>
            <a:off x="548640" y="1554480"/>
            <a:ext cx="64008" cy="1188720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ote_title_0"/>
          <p:cNvSpPr txBox="1"/>
          <p:nvPr/>
        </p:nvSpPr>
        <p:spPr>
          <a:xfrm>
            <a:off x="868680" y="175564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EC5F7"/>
                </a:solidFill>
                <a:latin typeface="Aptos"/>
              </a:rPr>
              <a:t>POPULATION AND SCOPE</a:t>
            </a:r>
          </a:p>
        </p:txBody>
      </p:sp>
      <p:sp>
        <p:nvSpPr>
          <p:cNvPr id="61" name="note_body_0"/>
          <p:cNvSpPr txBox="1"/>
          <p:nvPr/>
        </p:nvSpPr>
        <p:spPr>
          <a:xfrm>
            <a:off x="4297679" y="1755648"/>
            <a:ext cx="7071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9FF"/>
                </a:solidFill>
                <a:latin typeface="Aptos"/>
              </a:rPr>
              <a:t>[Definition and exclusions]</a:t>
            </a:r>
          </a:p>
        </p:txBody>
      </p:sp>
      <p:sp>
        <p:nvSpPr>
          <p:cNvPr id="62" name="note_card_1"/>
          <p:cNvSpPr/>
          <p:nvPr/>
        </p:nvSpPr>
        <p:spPr>
          <a:xfrm>
            <a:off x="548640" y="292608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ote_stripe_1"/>
          <p:cNvSpPr/>
          <p:nvPr/>
        </p:nvSpPr>
        <p:spPr>
          <a:xfrm>
            <a:off x="548640" y="2926080"/>
            <a:ext cx="64008" cy="1188720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ote_title_1"/>
          <p:cNvSpPr txBox="1"/>
          <p:nvPr/>
        </p:nvSpPr>
        <p:spPr>
          <a:xfrm>
            <a:off x="868680" y="312724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EC5F7"/>
                </a:solidFill>
                <a:latin typeface="Aptos"/>
              </a:rPr>
              <a:t>FRESHNESS AND COVERAGE</a:t>
            </a:r>
          </a:p>
        </p:txBody>
      </p:sp>
      <p:sp>
        <p:nvSpPr>
          <p:cNvPr id="65" name="note_body_1"/>
          <p:cNvSpPr txBox="1"/>
          <p:nvPr/>
        </p:nvSpPr>
        <p:spPr>
          <a:xfrm>
            <a:off x="4297679" y="3127248"/>
            <a:ext cx="7071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9FF"/>
                </a:solidFill>
                <a:latin typeface="Aptos"/>
              </a:rPr>
              <a:t>[Collection time and missing data]</a:t>
            </a:r>
          </a:p>
        </p:txBody>
      </p:sp>
      <p:sp>
        <p:nvSpPr>
          <p:cNvPr id="66" name="note_card_2"/>
          <p:cNvSpPr/>
          <p:nvPr/>
        </p:nvSpPr>
        <p:spPr>
          <a:xfrm>
            <a:off x="548640" y="429768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ote_stripe_2"/>
          <p:cNvSpPr/>
          <p:nvPr/>
        </p:nvSpPr>
        <p:spPr>
          <a:xfrm>
            <a:off x="548640" y="4297680"/>
            <a:ext cx="64008" cy="1188720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ote_title_2"/>
          <p:cNvSpPr txBox="1"/>
          <p:nvPr/>
        </p:nvSpPr>
        <p:spPr>
          <a:xfrm>
            <a:off x="868680" y="449884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EC5F7"/>
                </a:solidFill>
                <a:latin typeface="Aptos"/>
              </a:rPr>
              <a:t>CONFIDENCE AND LIMITATIONS</a:t>
            </a:r>
          </a:p>
        </p:txBody>
      </p:sp>
      <p:sp>
        <p:nvSpPr>
          <p:cNvPr id="69" name="note_body_2"/>
          <p:cNvSpPr txBox="1"/>
          <p:nvPr/>
        </p:nvSpPr>
        <p:spPr>
          <a:xfrm>
            <a:off x="4297679" y="4498848"/>
            <a:ext cx="7071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9FF"/>
                </a:solidFill>
                <a:latin typeface="Aptos"/>
              </a:rPr>
              <a:t>[Check-in age, status age, caveats]</a:t>
            </a:r>
          </a:p>
        </p:txBody>
      </p:sp>
      <p:sp>
        <p:nvSpPr>
          <p:cNvPr id="70" name="page_number"/>
          <p:cNvSpPr txBox="1"/>
          <p:nvPr/>
        </p:nvSpPr>
        <p:spPr>
          <a:xfrm>
            <a:off x="548640" y="6419088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C5F7"/>
                </a:solidFill>
                <a:latin typeface="Aptos"/>
              </a:rPr>
              <a:t>00</a:t>
            </a:r>
          </a:p>
        </p:txBody>
      </p:sp>
      <p:sp>
        <p:nvSpPr>
          <p:cNvPr id="71" name="source_footer"/>
          <p:cNvSpPr txBox="1"/>
          <p:nvPr/>
        </p:nvSpPr>
        <p:spPr>
          <a:xfrm>
            <a:off x="1005840" y="6419088"/>
            <a:ext cx="7863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B9C4D7"/>
                </a:solidFill>
                <a:latin typeface="Aptos"/>
              </a:rPr>
              <a:t>[Source]  |  [Data collected: UTC]  |  [Scope]</a:t>
            </a:r>
          </a:p>
        </p:txBody>
      </p:sp>
      <p:sp>
        <p:nvSpPr>
          <p:cNvPr id="72" name="brand_footer"/>
          <p:cNvSpPr txBox="1"/>
          <p:nvPr/>
        </p:nvSpPr>
        <p:spPr>
          <a:xfrm>
            <a:off x="8716975" y="6419088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C4D7"/>
                </a:solidFill>
                <a:latin typeface="Aptos"/>
              </a:rPr>
              <a:t>POWERSTACKS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art_line"/>
          <p:cNvCxnSpPr/>
          <p:nvPr/>
        </p:nvCxnSpPr>
        <p:spPr>
          <a:xfrm flipH="1" flipV="1">
            <a:off x="8661510" y="6287657"/>
            <a:ext cx="135179" cy="8915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art_line"/>
          <p:cNvCxnSpPr/>
          <p:nvPr/>
        </p:nvCxnSpPr>
        <p:spPr>
          <a:xfrm>
            <a:off x="8796689" y="6376815"/>
            <a:ext cx="130237" cy="16079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rt_line"/>
          <p:cNvCxnSpPr/>
          <p:nvPr/>
        </p:nvCxnSpPr>
        <p:spPr>
          <a:xfrm flipH="1" flipV="1">
            <a:off x="8265512" y="4883890"/>
            <a:ext cx="118154" cy="8029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rt_line"/>
          <p:cNvCxnSpPr/>
          <p:nvPr/>
        </p:nvCxnSpPr>
        <p:spPr>
          <a:xfrm>
            <a:off x="8383666" y="4964187"/>
            <a:ext cx="35572" cy="32632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art_line"/>
          <p:cNvCxnSpPr/>
          <p:nvPr/>
        </p:nvCxnSpPr>
        <p:spPr>
          <a:xfrm flipV="1">
            <a:off x="8214360" y="2382101"/>
            <a:ext cx="18024" cy="72739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t_line"/>
          <p:cNvCxnSpPr/>
          <p:nvPr/>
        </p:nvCxnSpPr>
        <p:spPr>
          <a:xfrm flipH="1">
            <a:off x="7946100" y="2454840"/>
            <a:ext cx="268260" cy="10603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t_line"/>
          <p:cNvCxnSpPr/>
          <p:nvPr/>
        </p:nvCxnSpPr>
        <p:spPr>
          <a:xfrm flipH="1">
            <a:off x="11488812" y="2246119"/>
            <a:ext cx="486242" cy="41836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t_line"/>
          <p:cNvCxnSpPr/>
          <p:nvPr/>
        </p:nvCxnSpPr>
        <p:spPr>
          <a:xfrm flipH="1">
            <a:off x="9728389" y="3616271"/>
            <a:ext cx="776611" cy="19668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t_line"/>
          <p:cNvCxnSpPr/>
          <p:nvPr/>
        </p:nvCxnSpPr>
        <p:spPr>
          <a:xfrm flipH="1">
            <a:off x="9911284" y="3616271"/>
            <a:ext cx="593716" cy="104564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t_line"/>
          <p:cNvCxnSpPr/>
          <p:nvPr/>
        </p:nvCxnSpPr>
        <p:spPr>
          <a:xfrm>
            <a:off x="9728389" y="3812953"/>
            <a:ext cx="182895" cy="84895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t_line"/>
          <p:cNvCxnSpPr/>
          <p:nvPr/>
        </p:nvCxnSpPr>
        <p:spPr>
          <a:xfrm flipH="1" flipV="1">
            <a:off x="8419238" y="5290509"/>
            <a:ext cx="235593" cy="36334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t_line"/>
          <p:cNvCxnSpPr/>
          <p:nvPr/>
        </p:nvCxnSpPr>
        <p:spPr>
          <a:xfrm>
            <a:off x="8654831" y="5653851"/>
            <a:ext cx="6679" cy="633806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t_line"/>
          <p:cNvCxnSpPr/>
          <p:nvPr/>
        </p:nvCxnSpPr>
        <p:spPr>
          <a:xfrm flipH="1">
            <a:off x="7946100" y="2382101"/>
            <a:ext cx="286284" cy="17877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t_line"/>
          <p:cNvCxnSpPr/>
          <p:nvPr/>
        </p:nvCxnSpPr>
        <p:spPr>
          <a:xfrm flipH="1" flipV="1">
            <a:off x="9331575" y="5914758"/>
            <a:ext cx="209720" cy="131607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t_line"/>
          <p:cNvCxnSpPr/>
          <p:nvPr/>
        </p:nvCxnSpPr>
        <p:spPr>
          <a:xfrm flipH="1">
            <a:off x="8926926" y="6046365"/>
            <a:ext cx="614369" cy="49124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t_line"/>
          <p:cNvCxnSpPr/>
          <p:nvPr/>
        </p:nvCxnSpPr>
        <p:spPr>
          <a:xfrm flipH="1" flipV="1">
            <a:off x="8448709" y="1450458"/>
            <a:ext cx="974950" cy="270795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t_line"/>
          <p:cNvCxnSpPr/>
          <p:nvPr/>
        </p:nvCxnSpPr>
        <p:spPr>
          <a:xfrm flipH="1" flipV="1">
            <a:off x="8661510" y="6287657"/>
            <a:ext cx="265416" cy="24995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t_line"/>
          <p:cNvCxnSpPr/>
          <p:nvPr/>
        </p:nvCxnSpPr>
        <p:spPr>
          <a:xfrm>
            <a:off x="8123437" y="4499769"/>
            <a:ext cx="142075" cy="38412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t_line"/>
          <p:cNvCxnSpPr/>
          <p:nvPr/>
        </p:nvCxnSpPr>
        <p:spPr>
          <a:xfrm flipH="1">
            <a:off x="9256447" y="4722929"/>
            <a:ext cx="159516" cy="167102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t_line"/>
          <p:cNvCxnSpPr/>
          <p:nvPr/>
        </p:nvCxnSpPr>
        <p:spPr>
          <a:xfrm flipV="1">
            <a:off x="9415963" y="4661911"/>
            <a:ext cx="495321" cy="61018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t_line"/>
          <p:cNvCxnSpPr/>
          <p:nvPr/>
        </p:nvCxnSpPr>
        <p:spPr>
          <a:xfrm flipV="1">
            <a:off x="9256447" y="4661911"/>
            <a:ext cx="654837" cy="228120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t_line"/>
          <p:cNvCxnSpPr/>
          <p:nvPr/>
        </p:nvCxnSpPr>
        <p:spPr>
          <a:xfrm>
            <a:off x="9911284" y="4661911"/>
            <a:ext cx="334867" cy="434633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t_line"/>
          <p:cNvCxnSpPr/>
          <p:nvPr/>
        </p:nvCxnSpPr>
        <p:spPr>
          <a:xfrm flipV="1">
            <a:off x="11572817" y="3778301"/>
            <a:ext cx="183835" cy="509521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rt_line"/>
          <p:cNvCxnSpPr/>
          <p:nvPr/>
        </p:nvCxnSpPr>
        <p:spPr>
          <a:xfrm flipH="1" flipV="1">
            <a:off x="11488812" y="2664487"/>
            <a:ext cx="267840" cy="1113814"/>
          </a:xfrm>
          <a:prstGeom prst="line">
            <a:avLst/>
          </a:prstGeom>
          <a:ln w="9525">
            <a:solidFill>
              <a:srgbClr val="21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t_dot"/>
          <p:cNvSpPr/>
          <p:nvPr/>
        </p:nvSpPr>
        <p:spPr>
          <a:xfrm>
            <a:off x="8706122" y="6286249"/>
            <a:ext cx="181132" cy="18113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t_dot"/>
          <p:cNvSpPr/>
          <p:nvPr/>
        </p:nvSpPr>
        <p:spPr>
          <a:xfrm>
            <a:off x="8314854" y="4895375"/>
            <a:ext cx="137623" cy="13762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t_dot"/>
          <p:cNvSpPr/>
          <p:nvPr/>
        </p:nvSpPr>
        <p:spPr>
          <a:xfrm>
            <a:off x="8165133" y="2405613"/>
            <a:ext cx="98454" cy="9845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t_dot"/>
          <p:cNvSpPr/>
          <p:nvPr/>
        </p:nvSpPr>
        <p:spPr>
          <a:xfrm>
            <a:off x="11928866" y="2199931"/>
            <a:ext cx="92374" cy="9237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t_dot"/>
          <p:cNvSpPr/>
          <p:nvPr/>
        </p:nvSpPr>
        <p:spPr>
          <a:xfrm>
            <a:off x="10434581" y="3545853"/>
            <a:ext cx="140836" cy="14083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t_dot"/>
          <p:cNvSpPr/>
          <p:nvPr/>
        </p:nvSpPr>
        <p:spPr>
          <a:xfrm>
            <a:off x="9659182" y="3743746"/>
            <a:ext cx="138413" cy="13841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t_dot"/>
          <p:cNvSpPr/>
          <p:nvPr/>
        </p:nvSpPr>
        <p:spPr>
          <a:xfrm>
            <a:off x="8613683" y="5612704"/>
            <a:ext cx="82295" cy="8229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t_dot"/>
          <p:cNvSpPr/>
          <p:nvPr/>
        </p:nvSpPr>
        <p:spPr>
          <a:xfrm>
            <a:off x="8137995" y="2287712"/>
            <a:ext cx="188778" cy="18877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t_dot"/>
          <p:cNvSpPr/>
          <p:nvPr/>
        </p:nvSpPr>
        <p:spPr>
          <a:xfrm>
            <a:off x="7877045" y="2491818"/>
            <a:ext cx="138109" cy="13810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t_dot"/>
          <p:cNvSpPr/>
          <p:nvPr/>
        </p:nvSpPr>
        <p:spPr>
          <a:xfrm>
            <a:off x="9459830" y="5964901"/>
            <a:ext cx="162928" cy="16292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t_dot"/>
          <p:cNvSpPr/>
          <p:nvPr/>
        </p:nvSpPr>
        <p:spPr>
          <a:xfrm>
            <a:off x="9373004" y="1670598"/>
            <a:ext cx="101309" cy="101309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t_dot"/>
          <p:cNvSpPr/>
          <p:nvPr/>
        </p:nvSpPr>
        <p:spPr>
          <a:xfrm>
            <a:off x="8874739" y="6485420"/>
            <a:ext cx="104373" cy="10437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_dot"/>
          <p:cNvSpPr/>
          <p:nvPr/>
        </p:nvSpPr>
        <p:spPr>
          <a:xfrm>
            <a:off x="8086098" y="4462430"/>
            <a:ext cx="74677" cy="7467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_dot"/>
          <p:cNvSpPr/>
          <p:nvPr/>
        </p:nvSpPr>
        <p:spPr>
          <a:xfrm>
            <a:off x="9357418" y="4664384"/>
            <a:ext cx="117091" cy="117091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t_dot"/>
          <p:cNvSpPr/>
          <p:nvPr/>
        </p:nvSpPr>
        <p:spPr>
          <a:xfrm>
            <a:off x="9202791" y="4836375"/>
            <a:ext cx="107312" cy="107312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t_dot"/>
          <p:cNvSpPr/>
          <p:nvPr/>
        </p:nvSpPr>
        <p:spPr>
          <a:xfrm>
            <a:off x="9847607" y="4598234"/>
            <a:ext cx="127354" cy="12735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rt_dot"/>
          <p:cNvSpPr/>
          <p:nvPr/>
        </p:nvSpPr>
        <p:spPr>
          <a:xfrm>
            <a:off x="11512115" y="4227119"/>
            <a:ext cx="121404" cy="12140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t_dot"/>
          <p:cNvSpPr/>
          <p:nvPr/>
        </p:nvSpPr>
        <p:spPr>
          <a:xfrm>
            <a:off x="8358730" y="1360479"/>
            <a:ext cx="179957" cy="17995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rt_dot"/>
          <p:cNvSpPr/>
          <p:nvPr/>
        </p:nvSpPr>
        <p:spPr>
          <a:xfrm>
            <a:off x="11663015" y="3684664"/>
            <a:ext cx="187274" cy="187274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t_dot"/>
          <p:cNvSpPr/>
          <p:nvPr/>
        </p:nvSpPr>
        <p:spPr>
          <a:xfrm>
            <a:off x="8613716" y="6239864"/>
            <a:ext cx="95586" cy="9558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t_dot"/>
          <p:cNvSpPr/>
          <p:nvPr/>
        </p:nvSpPr>
        <p:spPr>
          <a:xfrm>
            <a:off x="10184211" y="5034604"/>
            <a:ext cx="123880" cy="123880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t_dot"/>
          <p:cNvSpPr/>
          <p:nvPr/>
        </p:nvSpPr>
        <p:spPr>
          <a:xfrm>
            <a:off x="11441599" y="2617274"/>
            <a:ext cx="94425" cy="94425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t_dot"/>
          <p:cNvSpPr/>
          <p:nvPr/>
        </p:nvSpPr>
        <p:spPr>
          <a:xfrm>
            <a:off x="9252551" y="5835734"/>
            <a:ext cx="158048" cy="158048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t_dot"/>
          <p:cNvSpPr/>
          <p:nvPr/>
        </p:nvSpPr>
        <p:spPr>
          <a:xfrm>
            <a:off x="8320264" y="5191535"/>
            <a:ext cx="197947" cy="197947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rt_dot"/>
          <p:cNvSpPr/>
          <p:nvPr/>
        </p:nvSpPr>
        <p:spPr>
          <a:xfrm>
            <a:off x="8216018" y="4834397"/>
            <a:ext cx="98986" cy="98986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t_dot"/>
          <p:cNvSpPr/>
          <p:nvPr/>
        </p:nvSpPr>
        <p:spPr>
          <a:xfrm>
            <a:off x="10667391" y="6223722"/>
            <a:ext cx="171273" cy="171273"/>
          </a:xfrm>
          <a:prstGeom prst="ellipse">
            <a:avLst/>
          </a:prstGeom>
          <a:solidFill>
            <a:srgbClr val="232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ar_top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2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itle_bar"/>
          <p:cNvSpPr/>
          <p:nvPr/>
        </p:nvSpPr>
        <p:spPr>
          <a:xfrm>
            <a:off x="0" y="109728"/>
            <a:ext cx="12191695" cy="713232"/>
          </a:xfrm>
          <a:prstGeom prst="rect">
            <a:avLst/>
          </a:prstGeom>
          <a:solidFill>
            <a:srgbClr val="212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ar_accent"/>
          <p:cNvSpPr/>
          <p:nvPr/>
        </p:nvSpPr>
        <p:spPr>
          <a:xfrm>
            <a:off x="0" y="109728"/>
            <a:ext cx="109728" cy="713232"/>
          </a:xfrm>
          <a:prstGeom prst="rect">
            <a:avLst/>
          </a:prstGeom>
          <a:solidFill>
            <a:srgbClr val="45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ogo" descr="powerstack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"/>
            <a:ext cx="1097280" cy="548640"/>
          </a:xfrm>
          <a:prstGeom prst="rect">
            <a:avLst/>
          </a:prstGeom>
        </p:spPr>
      </p:pic>
      <p:sp>
        <p:nvSpPr>
          <p:cNvPr id="56" name="slide_title"/>
          <p:cNvSpPr txBox="1"/>
          <p:nvPr/>
        </p:nvSpPr>
        <p:spPr>
          <a:xfrm>
            <a:off x="1737360" y="109728"/>
            <a:ext cx="99056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9FF"/>
                </a:solidFill>
                <a:latin typeface="Aptos"/>
              </a:rPr>
              <a:t>[SLIDE TITLE]</a:t>
            </a:r>
          </a:p>
        </p:txBody>
      </p:sp>
      <p:sp>
        <p:nvSpPr>
          <p:cNvPr id="57" name="next_card"/>
          <p:cNvSpPr/>
          <p:nvPr/>
        </p:nvSpPr>
        <p:spPr>
          <a:xfrm>
            <a:off x="548640" y="1554480"/>
            <a:ext cx="11094415" cy="2103120"/>
          </a:xfrm>
          <a:prstGeom prst="roundRect">
            <a:avLst>
              <a:gd name="adj" fmla="val 5000"/>
            </a:avLst>
          </a:prstGeom>
          <a:solidFill>
            <a:srgbClr val="181D30"/>
          </a:solidFill>
          <a:ln w="9525">
            <a:solidFill>
              <a:srgbClr val="354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ext_stripe"/>
          <p:cNvSpPr/>
          <p:nvPr/>
        </p:nvSpPr>
        <p:spPr>
          <a:xfrm>
            <a:off x="548640" y="1554480"/>
            <a:ext cx="64008" cy="2103120"/>
          </a:xfrm>
          <a:prstGeom prst="rect">
            <a:avLst/>
          </a:prstGeom>
          <a:solidFill>
            <a:srgbClr val="6EC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nvestigation"/>
          <p:cNvSpPr txBox="1"/>
          <p:nvPr/>
        </p:nvSpPr>
        <p:spPr>
          <a:xfrm>
            <a:off x="914400" y="1783080"/>
            <a:ext cx="1036289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9FF"/>
                </a:solidFill>
                <a:latin typeface="Aptos"/>
              </a:rPr>
              <a:t>[Recommended investigation]</a:t>
            </a:r>
          </a:p>
        </p:txBody>
      </p:sp>
      <p:sp>
        <p:nvSpPr>
          <p:cNvPr id="60" name="supporting_context"/>
          <p:cNvSpPr txBox="1"/>
          <p:nvPr/>
        </p:nvSpPr>
        <p:spPr>
          <a:xfrm>
            <a:off x="548640" y="393192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9C4D7"/>
                </a:solidFill>
                <a:latin typeface="Aptos"/>
              </a:rPr>
              <a:t>[Supporting findings and limitations]</a:t>
            </a:r>
          </a:p>
        </p:txBody>
      </p:sp>
      <p:sp>
        <p:nvSpPr>
          <p:cNvPr id="61" name="followup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C5F7"/>
                </a:solidFill>
                <a:latin typeface="Aptos"/>
              </a:rPr>
              <a:t>[Offer to narrow scope or change ranking]</a:t>
            </a:r>
          </a:p>
        </p:txBody>
      </p:sp>
      <p:sp>
        <p:nvSpPr>
          <p:cNvPr id="62" name="page_number"/>
          <p:cNvSpPr txBox="1"/>
          <p:nvPr/>
        </p:nvSpPr>
        <p:spPr>
          <a:xfrm>
            <a:off x="548640" y="6419088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C5F7"/>
                </a:solidFill>
                <a:latin typeface="Aptos"/>
              </a:rPr>
              <a:t>00</a:t>
            </a:r>
          </a:p>
        </p:txBody>
      </p:sp>
      <p:sp>
        <p:nvSpPr>
          <p:cNvPr id="63" name="source_footer"/>
          <p:cNvSpPr txBox="1"/>
          <p:nvPr/>
        </p:nvSpPr>
        <p:spPr>
          <a:xfrm>
            <a:off x="1005840" y="6419088"/>
            <a:ext cx="7863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B9C4D7"/>
                </a:solidFill>
                <a:latin typeface="Aptos"/>
              </a:rPr>
              <a:t>[Source]  |  [Data collected: UTC]  |  [Scope]</a:t>
            </a:r>
          </a:p>
        </p:txBody>
      </p:sp>
      <p:sp>
        <p:nvSpPr>
          <p:cNvPr id="64" name="brand_footer"/>
          <p:cNvSpPr txBox="1"/>
          <p:nvPr/>
        </p:nvSpPr>
        <p:spPr>
          <a:xfrm>
            <a:off x="8716975" y="6419088"/>
            <a:ext cx="2926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9C4D7"/>
                </a:solidFill>
                <a:latin typeface="Aptos"/>
              </a:rPr>
              <a:t>POWERSTACKS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PowerStacks executive briefing template</dc:title>
  <dc:subject/>
  <dc:creator>PowerStacks</dc:creator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